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DM Sans" pitchFamily="2" charset="0"/>
      <p:regular r:id="rId13"/>
      <p:bold r:id="rId14"/>
    </p:embeddedFont>
    <p:embeddedFont>
      <p:font typeface="Libre Baskerville" panose="020000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50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999A8B-7CD1-4ACD-BF78-CC31626955A1}"/>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0" descr="preencoded.png"/>
          <p:cNvPicPr>
            <a:picLocks noChangeAspect="1"/>
          </p:cNvPicPr>
          <p:nvPr/>
        </p:nvPicPr>
        <p:blipFill>
          <a:blip r:embed="rId3"/>
          <a:stretch>
            <a:fillRect/>
          </a:stretch>
        </p:blipFill>
        <p:spPr>
          <a:xfrm>
            <a:off x="9226193" y="-261991"/>
            <a:ext cx="5486400" cy="8229600"/>
          </a:xfrm>
          <a:prstGeom prst="rect">
            <a:avLst/>
          </a:prstGeom>
        </p:spPr>
      </p:pic>
      <p:sp>
        <p:nvSpPr>
          <p:cNvPr id="3" name="Text 0"/>
          <p:cNvSpPr/>
          <p:nvPr/>
        </p:nvSpPr>
        <p:spPr>
          <a:xfrm>
            <a:off x="701322" y="857073"/>
            <a:ext cx="7556421" cy="2835116"/>
          </a:xfrm>
          <a:prstGeom prst="rect">
            <a:avLst/>
          </a:prstGeom>
          <a:noFill/>
          <a:ln/>
        </p:spPr>
        <p:txBody>
          <a:bodyPr wrap="square" lIns="0" tIns="0" rIns="0" bIns="0" rtlCol="0" anchor="t"/>
          <a:lstStyle/>
          <a:p>
            <a:pPr marL="0" indent="0" algn="l">
              <a:lnSpc>
                <a:spcPts val="5550"/>
              </a:lnSpc>
              <a:buNone/>
            </a:pPr>
            <a:r>
              <a:rPr lang="en-US" sz="4450" dirty="0">
                <a:solidFill>
                  <a:srgbClr val="5C4E3D"/>
                </a:solidFill>
                <a:latin typeface="Libre Baskerville" pitchFamily="34" charset="0"/>
                <a:ea typeface="Libre Baskerville" pitchFamily="34" charset="-122"/>
                <a:cs typeface="Libre Baskerville" pitchFamily="34" charset="-120"/>
              </a:rPr>
              <a:t>Voice-Based Early Detection of Parkinson’s Disease Using Machine Learning</a:t>
            </a:r>
            <a:endParaRPr lang="en-US" sz="4450" dirty="0"/>
          </a:p>
        </p:txBody>
      </p:sp>
      <p:sp>
        <p:nvSpPr>
          <p:cNvPr id="4" name="Text 1"/>
          <p:cNvSpPr/>
          <p:nvPr/>
        </p:nvSpPr>
        <p:spPr>
          <a:xfrm>
            <a:off x="701322" y="3973116"/>
            <a:ext cx="7556421" cy="708660"/>
          </a:xfrm>
          <a:prstGeom prst="rect">
            <a:avLst/>
          </a:prstGeom>
          <a:noFill/>
          <a:ln/>
        </p:spPr>
        <p:txBody>
          <a:bodyPr wrap="square" lIns="0" tIns="0" rIns="0" bIns="0" rtlCol="0" anchor="t"/>
          <a:lstStyle/>
          <a:p>
            <a:pPr marL="0" indent="0" algn="l">
              <a:lnSpc>
                <a:spcPts val="2750"/>
              </a:lnSpc>
              <a:buNone/>
            </a:pPr>
            <a:r>
              <a:rPr lang="en-US" sz="2200" dirty="0">
                <a:solidFill>
                  <a:srgbClr val="5C4E3D"/>
                </a:solidFill>
                <a:latin typeface="Libre Baskerville" pitchFamily="34" charset="0"/>
                <a:ea typeface="Libre Baskerville" pitchFamily="34" charset="-122"/>
                <a:cs typeface="Libre Baskerville" pitchFamily="34" charset="-120"/>
              </a:rPr>
              <a:t>A Non-Invasive Speech Analysis Framework for Early Screening</a:t>
            </a:r>
            <a:endParaRPr lang="en-US" sz="2200" dirty="0"/>
          </a:p>
        </p:txBody>
      </p:sp>
      <p:sp>
        <p:nvSpPr>
          <p:cNvPr id="5" name="Text 2"/>
          <p:cNvSpPr/>
          <p:nvPr/>
        </p:nvSpPr>
        <p:spPr>
          <a:xfrm>
            <a:off x="701321" y="4790640"/>
            <a:ext cx="7556421" cy="1451610"/>
          </a:xfrm>
          <a:prstGeom prst="rect">
            <a:avLst/>
          </a:prstGeom>
          <a:noFill/>
          <a:ln/>
        </p:spPr>
        <p:txBody>
          <a:bodyPr wrap="square" lIns="0" tIns="0" rIns="0" bIns="0" rtlCol="0" anchor="t"/>
          <a:lstStyle/>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Presented by:</a:t>
            </a:r>
            <a:r>
              <a:rPr lang="en-US" sz="1750" dirty="0">
                <a:solidFill>
                  <a:srgbClr val="454240"/>
                </a:solidFill>
                <a:latin typeface="DM Sans" pitchFamily="34" charset="0"/>
                <a:ea typeface="DM Sans" pitchFamily="34" charset="-122"/>
                <a:cs typeface="DM Sans" pitchFamily="34" charset="-120"/>
              </a:rPr>
              <a:t> </a:t>
            </a:r>
          </a:p>
          <a:p>
            <a:pPr marL="0" indent="0" algn="l">
              <a:lnSpc>
                <a:spcPts val="2850"/>
              </a:lnSpc>
              <a:buNone/>
            </a:pPr>
            <a:r>
              <a:rPr lang="en-US" sz="1750" dirty="0">
                <a:solidFill>
                  <a:srgbClr val="454240"/>
                </a:solidFill>
                <a:latin typeface="DM Sans" pitchFamily="34" charset="0"/>
                <a:ea typeface="DM Sans" pitchFamily="34" charset="-122"/>
                <a:cs typeface="DM Sans" pitchFamily="34" charset="-120"/>
              </a:rPr>
              <a:t>Goldi Kumari(2200429)</a:t>
            </a:r>
          </a:p>
          <a:p>
            <a:pPr marL="0" indent="0" algn="l">
              <a:lnSpc>
                <a:spcPts val="2850"/>
              </a:lnSpc>
              <a:buNone/>
            </a:pPr>
            <a:r>
              <a:rPr lang="en-US" sz="1750" dirty="0">
                <a:solidFill>
                  <a:srgbClr val="454240"/>
                </a:solidFill>
                <a:latin typeface="DM Sans" pitchFamily="34" charset="0"/>
              </a:rPr>
              <a:t>Guneet Kaur(2200430)</a:t>
            </a:r>
          </a:p>
          <a:p>
            <a:pPr marL="0" indent="0" algn="l">
              <a:lnSpc>
                <a:spcPts val="2850"/>
              </a:lnSpc>
              <a:buNone/>
            </a:pPr>
            <a:r>
              <a:rPr lang="en-US" sz="1750" dirty="0" err="1">
                <a:solidFill>
                  <a:srgbClr val="454240"/>
                </a:solidFill>
                <a:latin typeface="DM Sans" pitchFamily="34" charset="0"/>
              </a:rPr>
              <a:t>Gurkamalpreet</a:t>
            </a:r>
            <a:r>
              <a:rPr lang="en-US" sz="1750" dirty="0">
                <a:solidFill>
                  <a:srgbClr val="454240"/>
                </a:solidFill>
                <a:latin typeface="DM Sans" pitchFamily="34" charset="0"/>
              </a:rPr>
              <a:t> Kaur(2200431)</a:t>
            </a:r>
          </a:p>
          <a:p>
            <a:pPr marL="0" indent="0" algn="l">
              <a:lnSpc>
                <a:spcPts val="2850"/>
              </a:lnSpc>
              <a:buNone/>
            </a:pPr>
            <a:r>
              <a:rPr lang="en-US" sz="1750" dirty="0">
                <a:solidFill>
                  <a:srgbClr val="454240"/>
                </a:solidFill>
                <a:latin typeface="DM Sans" pitchFamily="34" charset="0"/>
              </a:rPr>
              <a:t>Gurpreet Kaur(2200433)</a:t>
            </a:r>
            <a:endParaRPr lang="en-US" sz="1750" dirty="0"/>
          </a:p>
          <a:p>
            <a:pPr marL="0" indent="0" algn="l">
              <a:lnSpc>
                <a:spcPts val="2850"/>
              </a:lnSpc>
              <a:buNone/>
            </a:pPr>
            <a:r>
              <a:rPr lang="en-US" sz="1750" b="1" dirty="0">
                <a:solidFill>
                  <a:srgbClr val="454240"/>
                </a:solidFill>
                <a:latin typeface="DM Sans" pitchFamily="34" charset="0"/>
                <a:ea typeface="DM Sans" pitchFamily="34" charset="-122"/>
                <a:cs typeface="DM Sans" pitchFamily="34" charset="-120"/>
              </a:rPr>
              <a:t>Department of Computer Science &amp; Engineering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C16F7-37F5-70B4-12E7-B4C2ABAEE584}"/>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638532" y="501729"/>
            <a:ext cx="13353336" cy="1140143"/>
          </a:xfrm>
          <a:prstGeom prst="rect">
            <a:avLst/>
          </a:prstGeom>
          <a:noFill/>
          <a:ln/>
        </p:spPr>
        <p:txBody>
          <a:bodyPr wrap="squar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The Urgent Need for Early Detection in Parkinson's Disease</a:t>
            </a:r>
            <a:endParaRPr lang="en-US" sz="3550" dirty="0"/>
          </a:p>
        </p:txBody>
      </p:sp>
      <p:sp>
        <p:nvSpPr>
          <p:cNvPr id="3" name="Text 1"/>
          <p:cNvSpPr/>
          <p:nvPr/>
        </p:nvSpPr>
        <p:spPr>
          <a:xfrm>
            <a:off x="638532" y="2079665"/>
            <a:ext cx="6454140" cy="1459111"/>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Parkinson's Disease (PD) is a </a:t>
            </a:r>
            <a:r>
              <a:rPr lang="en-US" sz="1400" b="1" dirty="0">
                <a:solidFill>
                  <a:srgbClr val="454240"/>
                </a:solidFill>
                <a:latin typeface="DM Sans" pitchFamily="34" charset="0"/>
                <a:ea typeface="DM Sans" pitchFamily="34" charset="-122"/>
                <a:cs typeface="DM Sans" pitchFamily="34" charset="-120"/>
              </a:rPr>
              <a:t>progressive and irreversible</a:t>
            </a:r>
            <a:r>
              <a:rPr lang="en-US" sz="1400" dirty="0">
                <a:solidFill>
                  <a:srgbClr val="454240"/>
                </a:solidFill>
                <a:latin typeface="DM Sans" pitchFamily="34" charset="0"/>
                <a:ea typeface="DM Sans" pitchFamily="34" charset="-122"/>
                <a:cs typeface="DM Sans" pitchFamily="34" charset="-120"/>
              </a:rPr>
              <a:t> neurodegenerative disorder that profoundly impacts quality of life. Current diagnostic methods often rely on the appearance of motor symptoms, which manifest </a:t>
            </a:r>
            <a:r>
              <a:rPr lang="en-US" sz="1400" b="1" dirty="0">
                <a:solidFill>
                  <a:srgbClr val="454240"/>
                </a:solidFill>
                <a:latin typeface="DM Sans" pitchFamily="34" charset="0"/>
                <a:ea typeface="DM Sans" pitchFamily="34" charset="-122"/>
                <a:cs typeface="DM Sans" pitchFamily="34" charset="-120"/>
              </a:rPr>
              <a:t>only after significant neural damage</a:t>
            </a:r>
            <a:r>
              <a:rPr lang="en-US" sz="1400" dirty="0">
                <a:solidFill>
                  <a:srgbClr val="454240"/>
                </a:solidFill>
                <a:latin typeface="DM Sans" pitchFamily="34" charset="0"/>
                <a:ea typeface="DM Sans" pitchFamily="34" charset="-122"/>
                <a:cs typeface="DM Sans" pitchFamily="34" charset="-120"/>
              </a:rPr>
              <a:t> has occurred, making early intervention challenging.</a:t>
            </a:r>
            <a:endParaRPr lang="en-US" sz="1400" dirty="0"/>
          </a:p>
        </p:txBody>
      </p:sp>
      <p:pic>
        <p:nvPicPr>
          <p:cNvPr id="4" name="Image 0" descr="preencoded.png"/>
          <p:cNvPicPr>
            <a:picLocks noChangeAspect="1"/>
          </p:cNvPicPr>
          <p:nvPr/>
        </p:nvPicPr>
        <p:blipFill>
          <a:blip r:embed="rId3"/>
          <a:stretch>
            <a:fillRect/>
          </a:stretch>
        </p:blipFill>
        <p:spPr>
          <a:xfrm>
            <a:off x="638532" y="3744039"/>
            <a:ext cx="2286000" cy="2286000"/>
          </a:xfrm>
          <a:prstGeom prst="rect">
            <a:avLst/>
          </a:prstGeom>
        </p:spPr>
      </p:pic>
      <p:sp>
        <p:nvSpPr>
          <p:cNvPr id="5" name="Text 2"/>
          <p:cNvSpPr/>
          <p:nvPr/>
        </p:nvSpPr>
        <p:spPr>
          <a:xfrm>
            <a:off x="7545348" y="2079665"/>
            <a:ext cx="6454140" cy="1459111"/>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Early diagnosis is </a:t>
            </a:r>
            <a:r>
              <a:rPr lang="en-US" sz="1400" b="1" dirty="0">
                <a:solidFill>
                  <a:srgbClr val="454240"/>
                </a:solidFill>
                <a:latin typeface="DM Sans" pitchFamily="34" charset="0"/>
                <a:ea typeface="DM Sans" pitchFamily="34" charset="-122"/>
                <a:cs typeface="DM Sans" pitchFamily="34" charset="-120"/>
              </a:rPr>
              <a:t>clinically difficult</a:t>
            </a:r>
            <a:r>
              <a:rPr lang="en-US" sz="1400" dirty="0">
                <a:solidFill>
                  <a:srgbClr val="454240"/>
                </a:solidFill>
                <a:latin typeface="DM Sans" pitchFamily="34" charset="0"/>
                <a:ea typeface="DM Sans" pitchFamily="34" charset="-122"/>
                <a:cs typeface="DM Sans" pitchFamily="34" charset="-120"/>
              </a:rPr>
              <a:t> and existing methods are frequently </a:t>
            </a:r>
            <a:r>
              <a:rPr lang="en-US" sz="1400" b="1" dirty="0">
                <a:solidFill>
                  <a:srgbClr val="454240"/>
                </a:solidFill>
                <a:latin typeface="DM Sans" pitchFamily="34" charset="0"/>
                <a:ea typeface="DM Sans" pitchFamily="34" charset="-122"/>
                <a:cs typeface="DM Sans" pitchFamily="34" charset="-120"/>
              </a:rPr>
              <a:t>invasive or costly</a:t>
            </a:r>
            <a:r>
              <a:rPr lang="en-US" sz="1400" dirty="0">
                <a:solidFill>
                  <a:srgbClr val="454240"/>
                </a:solidFill>
                <a:latin typeface="DM Sans" pitchFamily="34" charset="0"/>
                <a:ea typeface="DM Sans" pitchFamily="34" charset="-122"/>
                <a:cs typeface="DM Sans" pitchFamily="34" charset="-120"/>
              </a:rPr>
              <a:t>, limiting their widespread application. This creates a critical gap in care, as delaying diagnosis can mean missing crucial windows for therapeutic interventions that could slow disease progression or manage symptoms more effectively.</a:t>
            </a:r>
            <a:endParaRPr lang="en-US" sz="1400" dirty="0"/>
          </a:p>
        </p:txBody>
      </p:sp>
      <p:sp>
        <p:nvSpPr>
          <p:cNvPr id="6" name="Text 3"/>
          <p:cNvSpPr/>
          <p:nvPr/>
        </p:nvSpPr>
        <p:spPr>
          <a:xfrm>
            <a:off x="7545348" y="3702963"/>
            <a:ext cx="6454140" cy="1459111"/>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Our motivation stems from the observation that </a:t>
            </a:r>
            <a:r>
              <a:rPr lang="en-US" sz="1400" b="1" dirty="0">
                <a:solidFill>
                  <a:srgbClr val="454240"/>
                </a:solidFill>
                <a:latin typeface="DM Sans" pitchFamily="34" charset="0"/>
                <a:ea typeface="DM Sans" pitchFamily="34" charset="-122"/>
                <a:cs typeface="DM Sans" pitchFamily="34" charset="-120"/>
              </a:rPr>
              <a:t>speech impairment appears early</a:t>
            </a:r>
            <a:r>
              <a:rPr lang="en-US" sz="1400" dirty="0">
                <a:solidFill>
                  <a:srgbClr val="454240"/>
                </a:solidFill>
                <a:latin typeface="DM Sans" pitchFamily="34" charset="0"/>
                <a:ea typeface="DM Sans" pitchFamily="34" charset="-122"/>
                <a:cs typeface="DM Sans" pitchFamily="34" charset="-120"/>
              </a:rPr>
              <a:t> in the disease course, often before motor symptoms. Speech analysis offers a unique opportunity: it is non-invasive, easy to record remotely, and cost-effective, paving the way for accessible early screening tools.</a:t>
            </a:r>
            <a:endParaRPr lang="en-US" sz="1400" dirty="0"/>
          </a:p>
        </p:txBody>
      </p:sp>
      <p:pic>
        <p:nvPicPr>
          <p:cNvPr id="7" name="Image 1" descr="preencoded.png"/>
          <p:cNvPicPr>
            <a:picLocks noChangeAspect="1"/>
          </p:cNvPicPr>
          <p:nvPr/>
        </p:nvPicPr>
        <p:blipFill>
          <a:blip r:embed="rId4"/>
          <a:stretch>
            <a:fillRect/>
          </a:stretch>
        </p:blipFill>
        <p:spPr>
          <a:xfrm>
            <a:off x="7545348" y="5367338"/>
            <a:ext cx="2286000" cy="228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3522" y="932855"/>
            <a:ext cx="13442990" cy="494228"/>
          </a:xfrm>
          <a:prstGeom prst="rect">
            <a:avLst/>
          </a:prstGeom>
          <a:noFill/>
          <a:ln/>
        </p:spPr>
        <p:txBody>
          <a:bodyPr wrap="none" lIns="0" tIns="0" rIns="0" bIns="0" rtlCol="0" anchor="t"/>
          <a:lstStyle/>
          <a:p>
            <a:pPr marL="0" indent="0" algn="l">
              <a:lnSpc>
                <a:spcPts val="3850"/>
              </a:lnSpc>
              <a:buNone/>
            </a:pPr>
            <a:r>
              <a:rPr lang="en-US" sz="3100" dirty="0">
                <a:solidFill>
                  <a:srgbClr val="5C4E3D"/>
                </a:solidFill>
                <a:latin typeface="Libre Baskerville" pitchFamily="34" charset="0"/>
                <a:ea typeface="Libre Baskerville" pitchFamily="34" charset="-122"/>
                <a:cs typeface="Libre Baskerville" pitchFamily="34" charset="-120"/>
              </a:rPr>
              <a:t>Project Objectives: Pioneering a Hybrid Feature-Based Framework</a:t>
            </a:r>
            <a:endParaRPr lang="en-US" sz="3100" dirty="0"/>
          </a:p>
        </p:txBody>
      </p:sp>
      <p:sp>
        <p:nvSpPr>
          <p:cNvPr id="3" name="Shape 1"/>
          <p:cNvSpPr/>
          <p:nvPr/>
        </p:nvSpPr>
        <p:spPr>
          <a:xfrm>
            <a:off x="553522" y="1980486"/>
            <a:ext cx="6682621" cy="1424226"/>
          </a:xfrm>
          <a:prstGeom prst="roundRect">
            <a:avLst>
              <a:gd name="adj" fmla="val 7704"/>
            </a:avLst>
          </a:prstGeom>
          <a:solidFill>
            <a:srgbClr val="FFFDFA"/>
          </a:solidFill>
          <a:ln/>
        </p:spPr>
        <p:txBody>
          <a:bodyPr/>
          <a:lstStyle/>
          <a:p>
            <a:endParaRPr lang="en-IN"/>
          </a:p>
        </p:txBody>
      </p:sp>
      <p:sp>
        <p:nvSpPr>
          <p:cNvPr id="4" name="Shape 2"/>
          <p:cNvSpPr/>
          <p:nvPr/>
        </p:nvSpPr>
        <p:spPr>
          <a:xfrm>
            <a:off x="553522" y="1957626"/>
            <a:ext cx="6682621" cy="91440"/>
          </a:xfrm>
          <a:prstGeom prst="roundRect">
            <a:avLst>
              <a:gd name="adj" fmla="val 72650"/>
            </a:avLst>
          </a:prstGeom>
          <a:solidFill>
            <a:srgbClr val="B88E23"/>
          </a:solidFill>
          <a:ln/>
        </p:spPr>
        <p:txBody>
          <a:bodyPr/>
          <a:lstStyle/>
          <a:p>
            <a:endParaRPr lang="en-IN"/>
          </a:p>
        </p:txBody>
      </p:sp>
      <p:sp>
        <p:nvSpPr>
          <p:cNvPr id="5" name="Shape 3"/>
          <p:cNvSpPr/>
          <p:nvPr/>
        </p:nvSpPr>
        <p:spPr>
          <a:xfrm>
            <a:off x="3657540" y="1743313"/>
            <a:ext cx="474464" cy="474464"/>
          </a:xfrm>
          <a:prstGeom prst="roundRect">
            <a:avLst>
              <a:gd name="adj" fmla="val 192723"/>
            </a:avLst>
          </a:prstGeom>
          <a:solidFill>
            <a:srgbClr val="B88E23"/>
          </a:solidFill>
          <a:ln/>
        </p:spPr>
        <p:txBody>
          <a:bodyPr/>
          <a:lstStyle/>
          <a:p>
            <a:endParaRPr lang="en-IN"/>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99820" y="1885593"/>
            <a:ext cx="189786" cy="189786"/>
          </a:xfrm>
          <a:prstGeom prst="rect">
            <a:avLst/>
          </a:prstGeom>
        </p:spPr>
      </p:pic>
      <p:sp>
        <p:nvSpPr>
          <p:cNvPr id="7" name="Text 4"/>
          <p:cNvSpPr/>
          <p:nvPr/>
        </p:nvSpPr>
        <p:spPr>
          <a:xfrm>
            <a:off x="734497" y="2375892"/>
            <a:ext cx="2910364" cy="247174"/>
          </a:xfrm>
          <a:prstGeom prst="rect">
            <a:avLst/>
          </a:prstGeom>
          <a:noFill/>
          <a:ln/>
        </p:spPr>
        <p:txBody>
          <a:bodyPr wrap="none" lIns="0" tIns="0" rIns="0" bIns="0" rtlCol="0" anchor="t"/>
          <a:lstStyle/>
          <a:p>
            <a:pPr marL="0" indent="0" algn="l">
              <a:lnSpc>
                <a:spcPts val="1900"/>
              </a:lnSpc>
              <a:buNone/>
            </a:pPr>
            <a:r>
              <a:rPr lang="en-US" sz="1550" dirty="0">
                <a:solidFill>
                  <a:srgbClr val="454240"/>
                </a:solidFill>
                <a:latin typeface="Libre Baskerville" pitchFamily="34" charset="0"/>
                <a:ea typeface="Libre Baskerville" pitchFamily="34" charset="-122"/>
                <a:cs typeface="Libre Baskerville" pitchFamily="34" charset="-120"/>
              </a:rPr>
              <a:t>Deep Dive into PD &amp; Speech</a:t>
            </a:r>
            <a:endParaRPr lang="en-US" sz="1550" dirty="0"/>
          </a:p>
        </p:txBody>
      </p:sp>
      <p:sp>
        <p:nvSpPr>
          <p:cNvPr id="8" name="Text 5"/>
          <p:cNvSpPr/>
          <p:nvPr/>
        </p:nvSpPr>
        <p:spPr>
          <a:xfrm>
            <a:off x="734497" y="2717959"/>
            <a:ext cx="6320671" cy="505778"/>
          </a:xfrm>
          <a:prstGeom prst="rect">
            <a:avLst/>
          </a:prstGeom>
          <a:noFill/>
          <a:ln/>
        </p:spPr>
        <p:txBody>
          <a:bodyPr wrap="squar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Conduct an in-depth study of Parkinson’s Disease mechanisms and the specific characteristics of speech impairment associated with its onset and progression.</a:t>
            </a:r>
            <a:endParaRPr lang="en-US" sz="1200" dirty="0"/>
          </a:p>
        </p:txBody>
      </p:sp>
      <p:sp>
        <p:nvSpPr>
          <p:cNvPr id="9" name="Shape 6"/>
          <p:cNvSpPr/>
          <p:nvPr/>
        </p:nvSpPr>
        <p:spPr>
          <a:xfrm>
            <a:off x="7394258" y="1980486"/>
            <a:ext cx="6682621" cy="1424226"/>
          </a:xfrm>
          <a:prstGeom prst="roundRect">
            <a:avLst>
              <a:gd name="adj" fmla="val 7704"/>
            </a:avLst>
          </a:prstGeom>
          <a:solidFill>
            <a:srgbClr val="FFFDFA"/>
          </a:solidFill>
          <a:ln/>
        </p:spPr>
        <p:txBody>
          <a:bodyPr/>
          <a:lstStyle/>
          <a:p>
            <a:endParaRPr lang="en-IN"/>
          </a:p>
        </p:txBody>
      </p:sp>
      <p:sp>
        <p:nvSpPr>
          <p:cNvPr id="10" name="Shape 7"/>
          <p:cNvSpPr/>
          <p:nvPr/>
        </p:nvSpPr>
        <p:spPr>
          <a:xfrm>
            <a:off x="7394258" y="1957626"/>
            <a:ext cx="6682621" cy="91440"/>
          </a:xfrm>
          <a:prstGeom prst="roundRect">
            <a:avLst>
              <a:gd name="adj" fmla="val 72650"/>
            </a:avLst>
          </a:prstGeom>
          <a:solidFill>
            <a:srgbClr val="B88E23"/>
          </a:solidFill>
          <a:ln/>
        </p:spPr>
        <p:txBody>
          <a:bodyPr/>
          <a:lstStyle/>
          <a:p>
            <a:endParaRPr lang="en-IN"/>
          </a:p>
        </p:txBody>
      </p:sp>
      <p:sp>
        <p:nvSpPr>
          <p:cNvPr id="11" name="Shape 8"/>
          <p:cNvSpPr/>
          <p:nvPr/>
        </p:nvSpPr>
        <p:spPr>
          <a:xfrm>
            <a:off x="10498276" y="1743313"/>
            <a:ext cx="474464" cy="474464"/>
          </a:xfrm>
          <a:prstGeom prst="roundRect">
            <a:avLst>
              <a:gd name="adj" fmla="val 192723"/>
            </a:avLst>
          </a:prstGeom>
          <a:solidFill>
            <a:srgbClr val="B88E23"/>
          </a:solidFill>
          <a:ln/>
        </p:spPr>
        <p:txBody>
          <a:bodyPr/>
          <a:lstStyle/>
          <a:p>
            <a:endParaRPr lang="en-IN"/>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40556" y="1885593"/>
            <a:ext cx="189786" cy="189786"/>
          </a:xfrm>
          <a:prstGeom prst="rect">
            <a:avLst/>
          </a:prstGeom>
        </p:spPr>
      </p:pic>
      <p:sp>
        <p:nvSpPr>
          <p:cNvPr id="13" name="Text 9"/>
          <p:cNvSpPr/>
          <p:nvPr/>
        </p:nvSpPr>
        <p:spPr>
          <a:xfrm>
            <a:off x="7575233" y="2375892"/>
            <a:ext cx="3863816" cy="247174"/>
          </a:xfrm>
          <a:prstGeom prst="rect">
            <a:avLst/>
          </a:prstGeom>
          <a:noFill/>
          <a:ln/>
        </p:spPr>
        <p:txBody>
          <a:bodyPr wrap="none" lIns="0" tIns="0" rIns="0" bIns="0" rtlCol="0" anchor="t"/>
          <a:lstStyle/>
          <a:p>
            <a:pPr marL="0" indent="0" algn="l">
              <a:lnSpc>
                <a:spcPts val="1900"/>
              </a:lnSpc>
              <a:buNone/>
            </a:pPr>
            <a:r>
              <a:rPr lang="en-US" sz="1550" dirty="0">
                <a:solidFill>
                  <a:srgbClr val="454240"/>
                </a:solidFill>
                <a:latin typeface="Libre Baskerville" pitchFamily="34" charset="0"/>
                <a:ea typeface="Libre Baskerville" pitchFamily="34" charset="-122"/>
                <a:cs typeface="Libre Baskerville" pitchFamily="34" charset="-120"/>
              </a:rPr>
              <a:t>Extract Handcrafted Acoustic Features</a:t>
            </a:r>
            <a:endParaRPr lang="en-US" sz="1550" dirty="0"/>
          </a:p>
        </p:txBody>
      </p:sp>
      <p:sp>
        <p:nvSpPr>
          <p:cNvPr id="14" name="Text 10"/>
          <p:cNvSpPr/>
          <p:nvPr/>
        </p:nvSpPr>
        <p:spPr>
          <a:xfrm>
            <a:off x="7575233" y="2717959"/>
            <a:ext cx="6320671" cy="505778"/>
          </a:xfrm>
          <a:prstGeom prst="rect">
            <a:avLst/>
          </a:prstGeom>
          <a:noFill/>
          <a:ln/>
        </p:spPr>
        <p:txBody>
          <a:bodyPr wrap="squar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Develop and apply methods for extracting traditional, interpretable acoustic features from speech signals, capturing nuances related to PD.</a:t>
            </a:r>
            <a:endParaRPr lang="en-US" sz="1200" dirty="0"/>
          </a:p>
        </p:txBody>
      </p:sp>
      <p:sp>
        <p:nvSpPr>
          <p:cNvPr id="15" name="Shape 11"/>
          <p:cNvSpPr/>
          <p:nvPr/>
        </p:nvSpPr>
        <p:spPr>
          <a:xfrm>
            <a:off x="553522" y="3799999"/>
            <a:ext cx="6682621" cy="1424226"/>
          </a:xfrm>
          <a:prstGeom prst="roundRect">
            <a:avLst>
              <a:gd name="adj" fmla="val 7704"/>
            </a:avLst>
          </a:prstGeom>
          <a:solidFill>
            <a:srgbClr val="FFFDFA"/>
          </a:solidFill>
          <a:ln/>
        </p:spPr>
        <p:txBody>
          <a:bodyPr/>
          <a:lstStyle/>
          <a:p>
            <a:endParaRPr lang="en-IN"/>
          </a:p>
        </p:txBody>
      </p:sp>
      <p:sp>
        <p:nvSpPr>
          <p:cNvPr id="16" name="Shape 12"/>
          <p:cNvSpPr/>
          <p:nvPr/>
        </p:nvSpPr>
        <p:spPr>
          <a:xfrm>
            <a:off x="553522" y="3777139"/>
            <a:ext cx="6682621" cy="91440"/>
          </a:xfrm>
          <a:prstGeom prst="roundRect">
            <a:avLst>
              <a:gd name="adj" fmla="val 72650"/>
            </a:avLst>
          </a:prstGeom>
          <a:solidFill>
            <a:srgbClr val="B88E23"/>
          </a:solidFill>
          <a:ln/>
        </p:spPr>
        <p:txBody>
          <a:bodyPr/>
          <a:lstStyle/>
          <a:p>
            <a:endParaRPr lang="en-IN"/>
          </a:p>
        </p:txBody>
      </p:sp>
      <p:sp>
        <p:nvSpPr>
          <p:cNvPr id="17" name="Shape 13"/>
          <p:cNvSpPr/>
          <p:nvPr/>
        </p:nvSpPr>
        <p:spPr>
          <a:xfrm>
            <a:off x="3657540" y="3562826"/>
            <a:ext cx="474464" cy="474464"/>
          </a:xfrm>
          <a:prstGeom prst="roundRect">
            <a:avLst>
              <a:gd name="adj" fmla="val 192723"/>
            </a:avLst>
          </a:prstGeom>
          <a:solidFill>
            <a:srgbClr val="B88E23"/>
          </a:solidFill>
          <a:ln/>
        </p:spPr>
        <p:txBody>
          <a:bodyPr/>
          <a:lstStyle/>
          <a:p>
            <a:endParaRPr lang="en-IN"/>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99820" y="3705106"/>
            <a:ext cx="189786" cy="189786"/>
          </a:xfrm>
          <a:prstGeom prst="rect">
            <a:avLst/>
          </a:prstGeom>
        </p:spPr>
      </p:pic>
      <p:sp>
        <p:nvSpPr>
          <p:cNvPr id="19" name="Text 14"/>
          <p:cNvSpPr/>
          <p:nvPr/>
        </p:nvSpPr>
        <p:spPr>
          <a:xfrm>
            <a:off x="734497" y="4195405"/>
            <a:ext cx="3637717" cy="247174"/>
          </a:xfrm>
          <a:prstGeom prst="rect">
            <a:avLst/>
          </a:prstGeom>
          <a:noFill/>
          <a:ln/>
        </p:spPr>
        <p:txBody>
          <a:bodyPr wrap="none" lIns="0" tIns="0" rIns="0" bIns="0" rtlCol="0" anchor="t"/>
          <a:lstStyle/>
          <a:p>
            <a:pPr marL="0" indent="0" algn="l">
              <a:lnSpc>
                <a:spcPts val="1900"/>
              </a:lnSpc>
              <a:buNone/>
            </a:pPr>
            <a:r>
              <a:rPr lang="en-US" sz="1550" dirty="0">
                <a:solidFill>
                  <a:srgbClr val="454240"/>
                </a:solidFill>
                <a:latin typeface="Libre Baskerville" pitchFamily="34" charset="0"/>
                <a:ea typeface="Libre Baskerville" pitchFamily="34" charset="-122"/>
                <a:cs typeface="Libre Baskerville" pitchFamily="34" charset="-120"/>
              </a:rPr>
              <a:t>Generate Deep Speech Embeddings</a:t>
            </a:r>
            <a:endParaRPr lang="en-US" sz="1550" dirty="0"/>
          </a:p>
        </p:txBody>
      </p:sp>
      <p:sp>
        <p:nvSpPr>
          <p:cNvPr id="20" name="Text 15"/>
          <p:cNvSpPr/>
          <p:nvPr/>
        </p:nvSpPr>
        <p:spPr>
          <a:xfrm>
            <a:off x="734497" y="4537472"/>
            <a:ext cx="6320671" cy="505778"/>
          </a:xfrm>
          <a:prstGeom prst="rect">
            <a:avLst/>
          </a:prstGeom>
          <a:noFill/>
          <a:ln/>
        </p:spPr>
        <p:txBody>
          <a:bodyPr wrap="squar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Utilize state-of-the-art transformer models, specifically WavLM, to generate contextual and rich deep speech embeddings that capture complex vocal patterns.</a:t>
            </a:r>
            <a:endParaRPr lang="en-US" sz="1200" dirty="0"/>
          </a:p>
        </p:txBody>
      </p:sp>
      <p:sp>
        <p:nvSpPr>
          <p:cNvPr id="21" name="Shape 16"/>
          <p:cNvSpPr/>
          <p:nvPr/>
        </p:nvSpPr>
        <p:spPr>
          <a:xfrm>
            <a:off x="7394258" y="3799999"/>
            <a:ext cx="6682621" cy="1424226"/>
          </a:xfrm>
          <a:prstGeom prst="roundRect">
            <a:avLst>
              <a:gd name="adj" fmla="val 7704"/>
            </a:avLst>
          </a:prstGeom>
          <a:solidFill>
            <a:srgbClr val="FFFDFA"/>
          </a:solidFill>
          <a:ln/>
        </p:spPr>
        <p:txBody>
          <a:bodyPr/>
          <a:lstStyle/>
          <a:p>
            <a:endParaRPr lang="en-IN"/>
          </a:p>
        </p:txBody>
      </p:sp>
      <p:sp>
        <p:nvSpPr>
          <p:cNvPr id="22" name="Shape 17"/>
          <p:cNvSpPr/>
          <p:nvPr/>
        </p:nvSpPr>
        <p:spPr>
          <a:xfrm>
            <a:off x="7394258" y="3777139"/>
            <a:ext cx="6682621" cy="91440"/>
          </a:xfrm>
          <a:prstGeom prst="roundRect">
            <a:avLst>
              <a:gd name="adj" fmla="val 72650"/>
            </a:avLst>
          </a:prstGeom>
          <a:solidFill>
            <a:srgbClr val="B88E23"/>
          </a:solidFill>
          <a:ln/>
        </p:spPr>
        <p:txBody>
          <a:bodyPr/>
          <a:lstStyle/>
          <a:p>
            <a:endParaRPr lang="en-IN"/>
          </a:p>
        </p:txBody>
      </p:sp>
      <p:sp>
        <p:nvSpPr>
          <p:cNvPr id="23" name="Shape 18"/>
          <p:cNvSpPr/>
          <p:nvPr/>
        </p:nvSpPr>
        <p:spPr>
          <a:xfrm>
            <a:off x="10498276" y="3562826"/>
            <a:ext cx="474464" cy="474464"/>
          </a:xfrm>
          <a:prstGeom prst="roundRect">
            <a:avLst>
              <a:gd name="adj" fmla="val 192723"/>
            </a:avLst>
          </a:prstGeom>
          <a:solidFill>
            <a:srgbClr val="B88E23"/>
          </a:solidFill>
          <a:ln/>
        </p:spPr>
        <p:txBody>
          <a:bodyPr/>
          <a:lstStyle/>
          <a:p>
            <a:endParaRPr lang="en-IN"/>
          </a:p>
        </p:txBody>
      </p:sp>
      <p:pic>
        <p:nvPicPr>
          <p:cNvPr id="2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40556" y="3705106"/>
            <a:ext cx="189786" cy="189786"/>
          </a:xfrm>
          <a:prstGeom prst="rect">
            <a:avLst/>
          </a:prstGeom>
        </p:spPr>
      </p:pic>
      <p:sp>
        <p:nvSpPr>
          <p:cNvPr id="25" name="Text 19"/>
          <p:cNvSpPr/>
          <p:nvPr/>
        </p:nvSpPr>
        <p:spPr>
          <a:xfrm>
            <a:off x="7575233" y="4195405"/>
            <a:ext cx="4543663" cy="247174"/>
          </a:xfrm>
          <a:prstGeom prst="rect">
            <a:avLst/>
          </a:prstGeom>
          <a:noFill/>
          <a:ln/>
        </p:spPr>
        <p:txBody>
          <a:bodyPr wrap="none" lIns="0" tIns="0" rIns="0" bIns="0" rtlCol="0" anchor="t"/>
          <a:lstStyle/>
          <a:p>
            <a:pPr marL="0" indent="0" algn="l">
              <a:lnSpc>
                <a:spcPts val="1900"/>
              </a:lnSpc>
              <a:buNone/>
            </a:pPr>
            <a:r>
              <a:rPr lang="en-US" sz="1550" dirty="0">
                <a:solidFill>
                  <a:srgbClr val="454240"/>
                </a:solidFill>
                <a:latin typeface="Libre Baskerville" pitchFamily="34" charset="0"/>
                <a:ea typeface="Libre Baskerville" pitchFamily="34" charset="-122"/>
                <a:cs typeface="Libre Baskerville" pitchFamily="34" charset="-120"/>
              </a:rPr>
              <a:t>Comparative Analysis: ML vs. Deep Learning</a:t>
            </a:r>
            <a:endParaRPr lang="en-US" sz="1550" dirty="0"/>
          </a:p>
        </p:txBody>
      </p:sp>
      <p:sp>
        <p:nvSpPr>
          <p:cNvPr id="26" name="Text 20"/>
          <p:cNvSpPr/>
          <p:nvPr/>
        </p:nvSpPr>
        <p:spPr>
          <a:xfrm>
            <a:off x="7575233" y="4537472"/>
            <a:ext cx="6320671" cy="505778"/>
          </a:xfrm>
          <a:prstGeom prst="rect">
            <a:avLst/>
          </a:prstGeom>
          <a:noFill/>
          <a:ln/>
        </p:spPr>
        <p:txBody>
          <a:bodyPr wrap="squar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Systematically compare the performance of classical machine learning algorithms against deep learning approaches for PD detection using speech data.</a:t>
            </a:r>
            <a:endParaRPr lang="en-US" sz="1200" dirty="0"/>
          </a:p>
        </p:txBody>
      </p:sp>
      <p:sp>
        <p:nvSpPr>
          <p:cNvPr id="27" name="Shape 21"/>
          <p:cNvSpPr/>
          <p:nvPr/>
        </p:nvSpPr>
        <p:spPr>
          <a:xfrm>
            <a:off x="553522" y="5619512"/>
            <a:ext cx="6682621" cy="1677114"/>
          </a:xfrm>
          <a:prstGeom prst="roundRect">
            <a:avLst>
              <a:gd name="adj" fmla="val 6543"/>
            </a:avLst>
          </a:prstGeom>
          <a:solidFill>
            <a:srgbClr val="FFFDFA"/>
          </a:solidFill>
          <a:ln/>
        </p:spPr>
        <p:txBody>
          <a:bodyPr/>
          <a:lstStyle/>
          <a:p>
            <a:endParaRPr lang="en-IN"/>
          </a:p>
        </p:txBody>
      </p:sp>
      <p:sp>
        <p:nvSpPr>
          <p:cNvPr id="28" name="Shape 22"/>
          <p:cNvSpPr/>
          <p:nvPr/>
        </p:nvSpPr>
        <p:spPr>
          <a:xfrm>
            <a:off x="553522" y="5596652"/>
            <a:ext cx="6682621" cy="91440"/>
          </a:xfrm>
          <a:prstGeom prst="roundRect">
            <a:avLst>
              <a:gd name="adj" fmla="val 72650"/>
            </a:avLst>
          </a:prstGeom>
          <a:solidFill>
            <a:srgbClr val="B88E23"/>
          </a:solidFill>
          <a:ln/>
        </p:spPr>
        <p:txBody>
          <a:bodyPr/>
          <a:lstStyle/>
          <a:p>
            <a:endParaRPr lang="en-IN"/>
          </a:p>
        </p:txBody>
      </p:sp>
      <p:sp>
        <p:nvSpPr>
          <p:cNvPr id="29" name="Shape 23"/>
          <p:cNvSpPr/>
          <p:nvPr/>
        </p:nvSpPr>
        <p:spPr>
          <a:xfrm>
            <a:off x="3657540" y="5382339"/>
            <a:ext cx="474464" cy="474464"/>
          </a:xfrm>
          <a:prstGeom prst="roundRect">
            <a:avLst>
              <a:gd name="adj" fmla="val 192723"/>
            </a:avLst>
          </a:prstGeom>
          <a:solidFill>
            <a:srgbClr val="B88E23"/>
          </a:solidFill>
          <a:ln/>
        </p:spPr>
        <p:txBody>
          <a:bodyPr/>
          <a:lstStyle/>
          <a:p>
            <a:endParaRPr lang="en-IN"/>
          </a:p>
        </p:txBody>
      </p:sp>
      <p:pic>
        <p:nvPicPr>
          <p:cNvPr id="30"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99820" y="5524619"/>
            <a:ext cx="189786" cy="189786"/>
          </a:xfrm>
          <a:prstGeom prst="rect">
            <a:avLst/>
          </a:prstGeom>
        </p:spPr>
      </p:pic>
      <p:sp>
        <p:nvSpPr>
          <p:cNvPr id="31" name="Text 24"/>
          <p:cNvSpPr/>
          <p:nvPr/>
        </p:nvSpPr>
        <p:spPr>
          <a:xfrm>
            <a:off x="734497" y="6014918"/>
            <a:ext cx="3648313" cy="247174"/>
          </a:xfrm>
          <a:prstGeom prst="rect">
            <a:avLst/>
          </a:prstGeom>
          <a:noFill/>
          <a:ln/>
        </p:spPr>
        <p:txBody>
          <a:bodyPr wrap="none" lIns="0" tIns="0" rIns="0" bIns="0" rtlCol="0" anchor="t"/>
          <a:lstStyle/>
          <a:p>
            <a:pPr marL="0" indent="0" algn="l">
              <a:lnSpc>
                <a:spcPts val="1900"/>
              </a:lnSpc>
              <a:buNone/>
            </a:pPr>
            <a:r>
              <a:rPr lang="en-US" sz="1550" dirty="0">
                <a:solidFill>
                  <a:srgbClr val="454240"/>
                </a:solidFill>
                <a:latin typeface="Libre Baskerville" pitchFamily="34" charset="0"/>
                <a:ea typeface="Libre Baskerville" pitchFamily="34" charset="-122"/>
                <a:cs typeface="Libre Baskerville" pitchFamily="34" charset="-120"/>
              </a:rPr>
              <a:t>Propose Hybrid Feature Framework</a:t>
            </a:r>
            <a:endParaRPr lang="en-US" sz="1550" dirty="0"/>
          </a:p>
        </p:txBody>
      </p:sp>
      <p:sp>
        <p:nvSpPr>
          <p:cNvPr id="32" name="Text 25"/>
          <p:cNvSpPr/>
          <p:nvPr/>
        </p:nvSpPr>
        <p:spPr>
          <a:xfrm>
            <a:off x="734497" y="6356985"/>
            <a:ext cx="6320671" cy="758666"/>
          </a:xfrm>
          <a:prstGeom prst="rect">
            <a:avLst/>
          </a:prstGeom>
          <a:noFill/>
          <a:ln/>
        </p:spPr>
        <p:txBody>
          <a:bodyPr wrap="squar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Design and implement a novel hybrid framework that intelligently combines both handcrafted acoustic features and deep speech embeddings for enhanced diagnostic accuracy.</a:t>
            </a:r>
            <a:endParaRPr lang="en-US" sz="1200" dirty="0"/>
          </a:p>
        </p:txBody>
      </p:sp>
      <p:sp>
        <p:nvSpPr>
          <p:cNvPr id="33" name="Shape 26"/>
          <p:cNvSpPr/>
          <p:nvPr/>
        </p:nvSpPr>
        <p:spPr>
          <a:xfrm>
            <a:off x="7394258" y="5619512"/>
            <a:ext cx="6682621" cy="1677114"/>
          </a:xfrm>
          <a:prstGeom prst="roundRect">
            <a:avLst>
              <a:gd name="adj" fmla="val 6543"/>
            </a:avLst>
          </a:prstGeom>
          <a:solidFill>
            <a:srgbClr val="FFFDFA"/>
          </a:solidFill>
          <a:ln/>
        </p:spPr>
        <p:txBody>
          <a:bodyPr/>
          <a:lstStyle/>
          <a:p>
            <a:endParaRPr lang="en-IN"/>
          </a:p>
        </p:txBody>
      </p:sp>
      <p:sp>
        <p:nvSpPr>
          <p:cNvPr id="34" name="Shape 27"/>
          <p:cNvSpPr/>
          <p:nvPr/>
        </p:nvSpPr>
        <p:spPr>
          <a:xfrm>
            <a:off x="7394258" y="5596652"/>
            <a:ext cx="6682621" cy="91440"/>
          </a:xfrm>
          <a:prstGeom prst="roundRect">
            <a:avLst>
              <a:gd name="adj" fmla="val 72650"/>
            </a:avLst>
          </a:prstGeom>
          <a:solidFill>
            <a:srgbClr val="B88E23"/>
          </a:solidFill>
          <a:ln/>
        </p:spPr>
        <p:txBody>
          <a:bodyPr/>
          <a:lstStyle/>
          <a:p>
            <a:endParaRPr lang="en-IN"/>
          </a:p>
        </p:txBody>
      </p:sp>
      <p:sp>
        <p:nvSpPr>
          <p:cNvPr id="35" name="Shape 28"/>
          <p:cNvSpPr/>
          <p:nvPr/>
        </p:nvSpPr>
        <p:spPr>
          <a:xfrm>
            <a:off x="10498276" y="5382339"/>
            <a:ext cx="474464" cy="474464"/>
          </a:xfrm>
          <a:prstGeom prst="roundRect">
            <a:avLst>
              <a:gd name="adj" fmla="val 192723"/>
            </a:avLst>
          </a:prstGeom>
          <a:solidFill>
            <a:srgbClr val="B88E23"/>
          </a:solidFill>
          <a:ln/>
        </p:spPr>
        <p:txBody>
          <a:bodyPr/>
          <a:lstStyle/>
          <a:p>
            <a:endParaRPr lang="en-IN"/>
          </a:p>
        </p:txBody>
      </p:sp>
      <p:pic>
        <p:nvPicPr>
          <p:cNvPr id="36"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640556" y="5524619"/>
            <a:ext cx="189786" cy="189786"/>
          </a:xfrm>
          <a:prstGeom prst="rect">
            <a:avLst/>
          </a:prstGeom>
        </p:spPr>
      </p:pic>
      <p:sp>
        <p:nvSpPr>
          <p:cNvPr id="37" name="Text 29"/>
          <p:cNvSpPr/>
          <p:nvPr/>
        </p:nvSpPr>
        <p:spPr>
          <a:xfrm>
            <a:off x="7575233" y="6014918"/>
            <a:ext cx="3604260" cy="247174"/>
          </a:xfrm>
          <a:prstGeom prst="rect">
            <a:avLst/>
          </a:prstGeom>
          <a:noFill/>
          <a:ln/>
        </p:spPr>
        <p:txBody>
          <a:bodyPr wrap="none" lIns="0" tIns="0" rIns="0" bIns="0" rtlCol="0" anchor="t"/>
          <a:lstStyle/>
          <a:p>
            <a:pPr marL="0" indent="0" algn="l">
              <a:lnSpc>
                <a:spcPts val="1900"/>
              </a:lnSpc>
              <a:buNone/>
            </a:pPr>
            <a:r>
              <a:rPr lang="en-US" sz="1550" dirty="0">
                <a:solidFill>
                  <a:srgbClr val="454240"/>
                </a:solidFill>
                <a:latin typeface="Libre Baskerville" pitchFamily="34" charset="0"/>
                <a:ea typeface="Libre Baskerville" pitchFamily="34" charset="-122"/>
                <a:cs typeface="Libre Baskerville" pitchFamily="34" charset="-120"/>
              </a:rPr>
              <a:t>Evaluate Early Screening Feasibility</a:t>
            </a:r>
            <a:endParaRPr lang="en-US" sz="1550" dirty="0"/>
          </a:p>
        </p:txBody>
      </p:sp>
      <p:sp>
        <p:nvSpPr>
          <p:cNvPr id="38" name="Text 30"/>
          <p:cNvSpPr/>
          <p:nvPr/>
        </p:nvSpPr>
        <p:spPr>
          <a:xfrm>
            <a:off x="7575233" y="6356985"/>
            <a:ext cx="6320671" cy="505778"/>
          </a:xfrm>
          <a:prstGeom prst="rect">
            <a:avLst/>
          </a:prstGeom>
          <a:noFill/>
          <a:ln/>
        </p:spPr>
        <p:txBody>
          <a:bodyPr wrap="square" lIns="0" tIns="0" rIns="0" bIns="0" rtlCol="0" anchor="t"/>
          <a:lstStyle/>
          <a:p>
            <a:pPr marL="0" indent="0" algn="l">
              <a:lnSpc>
                <a:spcPts val="1950"/>
              </a:lnSpc>
              <a:buNone/>
            </a:pPr>
            <a:r>
              <a:rPr lang="en-US" sz="1200" dirty="0">
                <a:solidFill>
                  <a:srgbClr val="454240"/>
                </a:solidFill>
                <a:latin typeface="DM Sans" pitchFamily="34" charset="0"/>
                <a:ea typeface="DM Sans" pitchFamily="34" charset="-122"/>
                <a:cs typeface="DM Sans" pitchFamily="34" charset="-120"/>
              </a:rPr>
              <a:t>Assess the practical applicability and effectiveness of the proposed framework as a non-invasive tool for the early screening of Parkinson's Disease.</a:t>
            </a:r>
            <a:endParaRPr lang="en-US" sz="1200" dirty="0"/>
          </a:p>
        </p:txBody>
      </p:sp>
      <p:sp>
        <p:nvSpPr>
          <p:cNvPr id="39" name="Rectangle 38">
            <a:extLst>
              <a:ext uri="{FF2B5EF4-FFF2-40B4-BE49-F238E27FC236}">
                <a16:creationId xmlns:a16="http://schemas.microsoft.com/office/drawing/2014/main" id="{EF09DDE1-3EC4-ACB1-2581-69A32E05D329}"/>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E8A614-3EF9-4A56-DD2E-9A272BF794F8}"/>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36984" y="1078825"/>
            <a:ext cx="7870031" cy="1137523"/>
          </a:xfrm>
          <a:prstGeom prst="rect">
            <a:avLst/>
          </a:prstGeom>
          <a:noFill/>
          <a:ln/>
        </p:spPr>
        <p:txBody>
          <a:bodyPr wrap="square" lIns="0" tIns="0" rIns="0" bIns="0" rtlCol="0" anchor="t"/>
          <a:lstStyle/>
          <a:p>
            <a:pPr marL="0" indent="0" algn="l">
              <a:lnSpc>
                <a:spcPts val="4450"/>
              </a:lnSpc>
              <a:buNone/>
            </a:pPr>
            <a:r>
              <a:rPr lang="en-US" sz="3550" dirty="0">
                <a:solidFill>
                  <a:srgbClr val="5C4E3D"/>
                </a:solidFill>
                <a:latin typeface="Libre Baskerville" pitchFamily="34" charset="0"/>
                <a:ea typeface="Libre Baskerville" pitchFamily="34" charset="-122"/>
                <a:cs typeface="Libre Baskerville" pitchFamily="34" charset="-120"/>
              </a:rPr>
              <a:t>Leveraging Public Benchmarks: Our Dataset Foundation</a:t>
            </a:r>
            <a:endParaRPr lang="en-US" sz="3550" dirty="0"/>
          </a:p>
        </p:txBody>
      </p:sp>
      <p:sp>
        <p:nvSpPr>
          <p:cNvPr id="4" name="Text 1"/>
          <p:cNvSpPr/>
          <p:nvPr/>
        </p:nvSpPr>
        <p:spPr>
          <a:xfrm>
            <a:off x="636984" y="2671167"/>
            <a:ext cx="2508647" cy="284321"/>
          </a:xfrm>
          <a:prstGeom prst="rect">
            <a:avLst/>
          </a:prstGeom>
          <a:noFill/>
          <a:ln/>
        </p:spPr>
        <p:txBody>
          <a:bodyPr wrap="none" lIns="0" tIns="0" rIns="0" bIns="0" rtlCol="0" anchor="t"/>
          <a:lstStyle/>
          <a:p>
            <a:pPr marL="0" indent="0" algn="l">
              <a:lnSpc>
                <a:spcPts val="2200"/>
              </a:lnSpc>
              <a:buNone/>
            </a:pPr>
            <a:r>
              <a:rPr lang="en-US" sz="1750" dirty="0">
                <a:solidFill>
                  <a:srgbClr val="5C4E3D"/>
                </a:solidFill>
                <a:latin typeface="Libre Baskerville" pitchFamily="34" charset="0"/>
                <a:ea typeface="Libre Baskerville" pitchFamily="34" charset="-122"/>
                <a:cs typeface="Libre Baskerville" pitchFamily="34" charset="-120"/>
              </a:rPr>
              <a:t>Key Datasets Utilized:</a:t>
            </a:r>
            <a:endParaRPr lang="en-US" sz="1750" dirty="0"/>
          </a:p>
        </p:txBody>
      </p:sp>
      <p:sp>
        <p:nvSpPr>
          <p:cNvPr id="5" name="Text 2"/>
          <p:cNvSpPr/>
          <p:nvPr/>
        </p:nvSpPr>
        <p:spPr>
          <a:xfrm>
            <a:off x="636984" y="3137416"/>
            <a:ext cx="3713083" cy="116490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54240"/>
                </a:solidFill>
                <a:latin typeface="DM Sans" pitchFamily="34" charset="0"/>
                <a:ea typeface="DM Sans" pitchFamily="34" charset="-122"/>
                <a:cs typeface="DM Sans" pitchFamily="34" charset="-120"/>
              </a:rPr>
              <a:t>UCI Parkinson’s Dataset:</a:t>
            </a:r>
            <a:r>
              <a:rPr lang="en-US" sz="1400" dirty="0">
                <a:solidFill>
                  <a:srgbClr val="454240"/>
                </a:solidFill>
                <a:latin typeface="DM Sans" pitchFamily="34" charset="0"/>
                <a:ea typeface="DM Sans" pitchFamily="34" charset="-122"/>
                <a:cs typeface="DM Sans" pitchFamily="34" charset="-120"/>
              </a:rPr>
              <a:t> A widely recognized dataset containing vocal measurements from individuals with and without PD.</a:t>
            </a:r>
            <a:endParaRPr lang="en-US" sz="1400" dirty="0"/>
          </a:p>
        </p:txBody>
      </p:sp>
      <p:sp>
        <p:nvSpPr>
          <p:cNvPr id="6" name="Text 3"/>
          <p:cNvSpPr/>
          <p:nvPr/>
        </p:nvSpPr>
        <p:spPr>
          <a:xfrm>
            <a:off x="636984" y="4366022"/>
            <a:ext cx="3713083" cy="116490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54240"/>
                </a:solidFill>
                <a:latin typeface="DM Sans" pitchFamily="34" charset="0"/>
                <a:ea typeface="DM Sans" pitchFamily="34" charset="-122"/>
                <a:cs typeface="DM Sans" pitchFamily="34" charset="-120"/>
              </a:rPr>
              <a:t>Figshare Voice Dataset:</a:t>
            </a:r>
            <a:r>
              <a:rPr lang="en-US" sz="1400" dirty="0">
                <a:solidFill>
                  <a:srgbClr val="454240"/>
                </a:solidFill>
                <a:latin typeface="DM Sans" pitchFamily="34" charset="0"/>
                <a:ea typeface="DM Sans" pitchFamily="34" charset="-122"/>
                <a:cs typeface="DM Sans" pitchFamily="34" charset="-120"/>
              </a:rPr>
              <a:t> Another valuable public resource providing diverse voice recordings for research purposes.</a:t>
            </a:r>
            <a:endParaRPr lang="en-US" sz="1400" dirty="0"/>
          </a:p>
        </p:txBody>
      </p:sp>
      <p:sp>
        <p:nvSpPr>
          <p:cNvPr id="7" name="Text 4"/>
          <p:cNvSpPr/>
          <p:nvPr/>
        </p:nvSpPr>
        <p:spPr>
          <a:xfrm>
            <a:off x="636984" y="5694640"/>
            <a:ext cx="3713083" cy="1164908"/>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These datasets are instrumental for academic and research validation due to their established presence and accessibility within the scientific community.</a:t>
            </a:r>
            <a:endParaRPr lang="en-US" sz="1400" dirty="0"/>
          </a:p>
        </p:txBody>
      </p:sp>
      <p:sp>
        <p:nvSpPr>
          <p:cNvPr id="8" name="Text 5"/>
          <p:cNvSpPr/>
          <p:nvPr/>
        </p:nvSpPr>
        <p:spPr>
          <a:xfrm>
            <a:off x="4801553" y="2671167"/>
            <a:ext cx="2702362" cy="284321"/>
          </a:xfrm>
          <a:prstGeom prst="rect">
            <a:avLst/>
          </a:prstGeom>
          <a:noFill/>
          <a:ln/>
        </p:spPr>
        <p:txBody>
          <a:bodyPr wrap="none" lIns="0" tIns="0" rIns="0" bIns="0" rtlCol="0" anchor="t"/>
          <a:lstStyle/>
          <a:p>
            <a:pPr marL="0" indent="0" algn="l">
              <a:lnSpc>
                <a:spcPts val="2200"/>
              </a:lnSpc>
              <a:buNone/>
            </a:pPr>
            <a:r>
              <a:rPr lang="en-US" sz="1750" dirty="0">
                <a:solidFill>
                  <a:srgbClr val="5C4E3D"/>
                </a:solidFill>
                <a:latin typeface="Libre Baskerville" pitchFamily="34" charset="0"/>
                <a:ea typeface="Libre Baskerville" pitchFamily="34" charset="-122"/>
                <a:cs typeface="Libre Baskerville" pitchFamily="34" charset="-120"/>
              </a:rPr>
              <a:t>Dataset Characteristics:</a:t>
            </a:r>
            <a:endParaRPr lang="en-US" sz="1750" dirty="0"/>
          </a:p>
        </p:txBody>
      </p:sp>
      <p:sp>
        <p:nvSpPr>
          <p:cNvPr id="9" name="Text 6"/>
          <p:cNvSpPr/>
          <p:nvPr/>
        </p:nvSpPr>
        <p:spPr>
          <a:xfrm>
            <a:off x="4801553" y="3137416"/>
            <a:ext cx="3713083" cy="873681"/>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54240"/>
                </a:solidFill>
                <a:latin typeface="DM Sans" pitchFamily="34" charset="0"/>
                <a:ea typeface="DM Sans" pitchFamily="34" charset="-122"/>
                <a:cs typeface="DM Sans" pitchFamily="34" charset="-120"/>
              </a:rPr>
              <a:t>Short .wav Recordings:</a:t>
            </a:r>
            <a:r>
              <a:rPr lang="en-US" sz="1400" dirty="0">
                <a:solidFill>
                  <a:srgbClr val="454240"/>
                </a:solidFill>
                <a:latin typeface="DM Sans" pitchFamily="34" charset="0"/>
                <a:ea typeface="DM Sans" pitchFamily="34" charset="-122"/>
                <a:cs typeface="DM Sans" pitchFamily="34" charset="-120"/>
              </a:rPr>
              <a:t> Comprising brief audio samples, optimized for efficient processing and analysis.</a:t>
            </a:r>
            <a:endParaRPr lang="en-US" sz="1400" dirty="0"/>
          </a:p>
        </p:txBody>
      </p:sp>
      <p:sp>
        <p:nvSpPr>
          <p:cNvPr id="10" name="Text 7"/>
          <p:cNvSpPr/>
          <p:nvPr/>
        </p:nvSpPr>
        <p:spPr>
          <a:xfrm>
            <a:off x="4801553" y="4074795"/>
            <a:ext cx="3713083" cy="291227"/>
          </a:xfrm>
          <a:prstGeom prst="rect">
            <a:avLst/>
          </a:prstGeom>
          <a:noFill/>
          <a:ln/>
        </p:spPr>
        <p:txBody>
          <a:bodyPr wrap="none" lIns="0" tIns="0" rIns="0" bIns="0" rtlCol="0" anchor="t"/>
          <a:lstStyle/>
          <a:p>
            <a:pPr marL="342900" indent="-342900" algn="l">
              <a:lnSpc>
                <a:spcPts val="2250"/>
              </a:lnSpc>
              <a:buSzPct val="100000"/>
              <a:buChar char="•"/>
            </a:pPr>
            <a:r>
              <a:rPr lang="en-US" sz="1400" b="1" dirty="0">
                <a:solidFill>
                  <a:srgbClr val="454240"/>
                </a:solidFill>
                <a:latin typeface="DM Sans" pitchFamily="34" charset="0"/>
                <a:ea typeface="DM Sans" pitchFamily="34" charset="-122"/>
                <a:cs typeface="DM Sans" pitchFamily="34" charset="-120"/>
              </a:rPr>
              <a:t>Two Primary Classes:</a:t>
            </a:r>
            <a:endParaRPr lang="en-US" sz="1400" dirty="0"/>
          </a:p>
        </p:txBody>
      </p:sp>
      <p:sp>
        <p:nvSpPr>
          <p:cNvPr id="11" name="Text 8"/>
          <p:cNvSpPr/>
          <p:nvPr/>
        </p:nvSpPr>
        <p:spPr>
          <a:xfrm>
            <a:off x="4801553" y="4429720"/>
            <a:ext cx="3713083" cy="582454"/>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454240"/>
                </a:solidFill>
                <a:latin typeface="DM Sans" pitchFamily="34" charset="0"/>
                <a:ea typeface="DM Sans" pitchFamily="34" charset="-122"/>
                <a:cs typeface="DM Sans" pitchFamily="34" charset="-120"/>
              </a:rPr>
              <a:t>Recordings from confirmed </a:t>
            </a:r>
            <a:r>
              <a:rPr lang="en-US" sz="1400" b="1" dirty="0">
                <a:solidFill>
                  <a:srgbClr val="454240"/>
                </a:solidFill>
                <a:latin typeface="DM Sans" pitchFamily="34" charset="0"/>
                <a:ea typeface="DM Sans" pitchFamily="34" charset="-122"/>
                <a:cs typeface="DM Sans" pitchFamily="34" charset="-120"/>
              </a:rPr>
              <a:t>Parkinson's Disease patients</a:t>
            </a:r>
            <a:endParaRPr lang="en-US" sz="1400" dirty="0"/>
          </a:p>
        </p:txBody>
      </p:sp>
      <p:sp>
        <p:nvSpPr>
          <p:cNvPr id="12" name="Text 9"/>
          <p:cNvSpPr/>
          <p:nvPr/>
        </p:nvSpPr>
        <p:spPr>
          <a:xfrm>
            <a:off x="4801553" y="5075873"/>
            <a:ext cx="3713083" cy="582454"/>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454240"/>
                </a:solidFill>
                <a:latin typeface="DM Sans" pitchFamily="34" charset="0"/>
                <a:ea typeface="DM Sans" pitchFamily="34" charset="-122"/>
                <a:cs typeface="DM Sans" pitchFamily="34" charset="-120"/>
              </a:rPr>
              <a:t>Recordings from </a:t>
            </a:r>
            <a:r>
              <a:rPr lang="en-US" sz="1400" b="1" dirty="0">
                <a:solidFill>
                  <a:srgbClr val="454240"/>
                </a:solidFill>
                <a:latin typeface="DM Sans" pitchFamily="34" charset="0"/>
                <a:ea typeface="DM Sans" pitchFamily="34" charset="-122"/>
                <a:cs typeface="DM Sans" pitchFamily="34" charset="-120"/>
              </a:rPr>
              <a:t>healthy controls</a:t>
            </a:r>
            <a:r>
              <a:rPr lang="en-US" sz="1400" dirty="0">
                <a:solidFill>
                  <a:srgbClr val="454240"/>
                </a:solidFill>
                <a:latin typeface="DM Sans" pitchFamily="34" charset="0"/>
                <a:ea typeface="DM Sans" pitchFamily="34" charset="-122"/>
                <a:cs typeface="DM Sans" pitchFamily="34" charset="-120"/>
              </a:rPr>
              <a:t> for comparative analysis</a:t>
            </a:r>
            <a:endParaRPr lang="en-US" sz="1400" dirty="0"/>
          </a:p>
        </p:txBody>
      </p:sp>
      <p:sp>
        <p:nvSpPr>
          <p:cNvPr id="13" name="Text 10"/>
          <p:cNvSpPr/>
          <p:nvPr/>
        </p:nvSpPr>
        <p:spPr>
          <a:xfrm>
            <a:off x="4801553" y="5822037"/>
            <a:ext cx="3713083" cy="1164908"/>
          </a:xfrm>
          <a:prstGeom prst="rect">
            <a:avLst/>
          </a:prstGeom>
          <a:noFill/>
          <a:ln/>
        </p:spPr>
        <p:txBody>
          <a:bodyPr wrap="square" lIns="0" tIns="0" rIns="0" bIns="0" rtlCol="0" anchor="t"/>
          <a:lstStyle/>
          <a:p>
            <a:pPr marL="0" indent="0" algn="l">
              <a:lnSpc>
                <a:spcPts val="2250"/>
              </a:lnSpc>
              <a:buNone/>
            </a:pPr>
            <a:r>
              <a:rPr lang="en-US" sz="1400" dirty="0">
                <a:solidFill>
                  <a:srgbClr val="454240"/>
                </a:solidFill>
                <a:latin typeface="DM Sans" pitchFamily="34" charset="0"/>
                <a:ea typeface="DM Sans" pitchFamily="34" charset="-122"/>
                <a:cs typeface="DM Sans" pitchFamily="34" charset="-120"/>
              </a:rPr>
              <a:t>The binary classification nature of these datasets provides a clear target for our machine learning models, enabling robust evaluation of PD detection capabilities.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6277" y="869633"/>
            <a:ext cx="13036391" cy="621744"/>
          </a:xfrm>
          <a:prstGeom prst="rect">
            <a:avLst/>
          </a:prstGeom>
          <a:noFill/>
          <a:ln/>
        </p:spPr>
        <p:txBody>
          <a:bodyPr wrap="none" lIns="0" tIns="0" rIns="0" bIns="0" rtlCol="0" anchor="t"/>
          <a:lstStyle/>
          <a:p>
            <a:pPr marL="0" indent="0" algn="l">
              <a:lnSpc>
                <a:spcPts val="4850"/>
              </a:lnSpc>
              <a:buNone/>
            </a:pPr>
            <a:r>
              <a:rPr lang="en-US" sz="3900" dirty="0">
                <a:solidFill>
                  <a:srgbClr val="5C4E3D"/>
                </a:solidFill>
                <a:latin typeface="Libre Baskerville" pitchFamily="34" charset="0"/>
                <a:ea typeface="Libre Baskerville" pitchFamily="34" charset="-122"/>
                <a:cs typeface="Libre Baskerville" pitchFamily="34" charset="-120"/>
              </a:rPr>
              <a:t>Unlocking Vocal Secrets: Speech Feature Extraction</a:t>
            </a:r>
            <a:endParaRPr lang="en-US" sz="3900" dirty="0"/>
          </a:p>
        </p:txBody>
      </p:sp>
      <p:sp>
        <p:nvSpPr>
          <p:cNvPr id="3" name="Shape 1"/>
          <p:cNvSpPr/>
          <p:nvPr/>
        </p:nvSpPr>
        <p:spPr>
          <a:xfrm>
            <a:off x="696277" y="1889284"/>
            <a:ext cx="6519386" cy="5470684"/>
          </a:xfrm>
          <a:prstGeom prst="roundRect">
            <a:avLst>
              <a:gd name="adj" fmla="val 2006"/>
            </a:avLst>
          </a:prstGeom>
          <a:solidFill>
            <a:srgbClr val="FFFDFA"/>
          </a:solidFill>
          <a:ln w="22860">
            <a:solidFill>
              <a:srgbClr val="DDD3BA"/>
            </a:solidFill>
            <a:prstDash val="solid"/>
          </a:ln>
        </p:spPr>
        <p:txBody>
          <a:bodyPr/>
          <a:lstStyle/>
          <a:p>
            <a:endParaRPr lang="en-IN"/>
          </a:p>
        </p:txBody>
      </p:sp>
      <p:sp>
        <p:nvSpPr>
          <p:cNvPr id="4" name="Shape 2"/>
          <p:cNvSpPr/>
          <p:nvPr/>
        </p:nvSpPr>
        <p:spPr>
          <a:xfrm>
            <a:off x="673418" y="1889284"/>
            <a:ext cx="91440" cy="5470684"/>
          </a:xfrm>
          <a:prstGeom prst="roundRect">
            <a:avLst>
              <a:gd name="adj" fmla="val 91386"/>
            </a:avLst>
          </a:prstGeom>
          <a:solidFill>
            <a:srgbClr val="B88E23"/>
          </a:solidFill>
          <a:ln/>
        </p:spPr>
        <p:txBody>
          <a:bodyPr/>
          <a:lstStyle/>
          <a:p>
            <a:endParaRPr lang="en-IN"/>
          </a:p>
        </p:txBody>
      </p:sp>
      <p:sp>
        <p:nvSpPr>
          <p:cNvPr id="5" name="Text 3"/>
          <p:cNvSpPr/>
          <p:nvPr/>
        </p:nvSpPr>
        <p:spPr>
          <a:xfrm>
            <a:off x="986671" y="2111097"/>
            <a:ext cx="4655820" cy="373023"/>
          </a:xfrm>
          <a:prstGeom prst="rect">
            <a:avLst/>
          </a:prstGeom>
          <a:noFill/>
          <a:ln/>
        </p:spPr>
        <p:txBody>
          <a:bodyPr wrap="none" lIns="0" tIns="0" rIns="0" bIns="0" rtlCol="0" anchor="t"/>
          <a:lstStyle/>
          <a:p>
            <a:pPr marL="0" indent="0" algn="l">
              <a:lnSpc>
                <a:spcPts val="2900"/>
              </a:lnSpc>
              <a:buNone/>
            </a:pPr>
            <a:r>
              <a:rPr lang="en-US" sz="2300" dirty="0">
                <a:solidFill>
                  <a:srgbClr val="454240"/>
                </a:solidFill>
                <a:latin typeface="Libre Baskerville" pitchFamily="34" charset="0"/>
                <a:ea typeface="Libre Baskerville" pitchFamily="34" charset="-122"/>
                <a:cs typeface="Libre Baskerville" pitchFamily="34" charset="-120"/>
              </a:rPr>
              <a:t>Handcrafted Acoustic Features</a:t>
            </a:r>
            <a:endParaRPr lang="en-US" sz="2300" dirty="0"/>
          </a:p>
        </p:txBody>
      </p:sp>
      <p:sp>
        <p:nvSpPr>
          <p:cNvPr id="6" name="Text 4"/>
          <p:cNvSpPr/>
          <p:nvPr/>
        </p:nvSpPr>
        <p:spPr>
          <a:xfrm>
            <a:off x="986671" y="2603421"/>
            <a:ext cx="6007179" cy="954762"/>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These are traditional, expert-designed features that capture specific acoustic properties known to be affected by PD, offering interpretability.</a:t>
            </a:r>
            <a:endParaRPr lang="en-US" sz="1550" dirty="0"/>
          </a:p>
        </p:txBody>
      </p:sp>
      <p:sp>
        <p:nvSpPr>
          <p:cNvPr id="7" name="Text 5"/>
          <p:cNvSpPr/>
          <p:nvPr/>
        </p:nvSpPr>
        <p:spPr>
          <a:xfrm>
            <a:off x="986671" y="3677483"/>
            <a:ext cx="6007179" cy="63650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54240"/>
                </a:solidFill>
                <a:latin typeface="DM Sans" pitchFamily="34" charset="0"/>
                <a:ea typeface="DM Sans" pitchFamily="34" charset="-122"/>
                <a:cs typeface="DM Sans" pitchFamily="34" charset="-120"/>
              </a:rPr>
              <a:t>MFCC (Mel-Frequency Cepstral Coefficients):</a:t>
            </a:r>
            <a:r>
              <a:rPr lang="en-US" sz="1550" dirty="0">
                <a:solidFill>
                  <a:srgbClr val="454240"/>
                </a:solidFill>
                <a:latin typeface="DM Sans" pitchFamily="34" charset="0"/>
                <a:ea typeface="DM Sans" pitchFamily="34" charset="-122"/>
                <a:cs typeface="DM Sans" pitchFamily="34" charset="-120"/>
              </a:rPr>
              <a:t> Represents the short-term power spectrum of a sound.</a:t>
            </a:r>
            <a:endParaRPr lang="en-US" sz="1550" dirty="0"/>
          </a:p>
        </p:txBody>
      </p:sp>
      <p:sp>
        <p:nvSpPr>
          <p:cNvPr id="8" name="Text 6"/>
          <p:cNvSpPr/>
          <p:nvPr/>
        </p:nvSpPr>
        <p:spPr>
          <a:xfrm>
            <a:off x="986671" y="4383524"/>
            <a:ext cx="6007179" cy="63650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54240"/>
                </a:solidFill>
                <a:latin typeface="DM Sans" pitchFamily="34" charset="0"/>
                <a:ea typeface="DM Sans" pitchFamily="34" charset="-122"/>
                <a:cs typeface="DM Sans" pitchFamily="34" charset="-120"/>
              </a:rPr>
              <a:t>LPC (Linear Predictive Coding):</a:t>
            </a:r>
            <a:r>
              <a:rPr lang="en-US" sz="1550" dirty="0">
                <a:solidFill>
                  <a:srgbClr val="454240"/>
                </a:solidFill>
                <a:latin typeface="DM Sans" pitchFamily="34" charset="0"/>
                <a:ea typeface="DM Sans" pitchFamily="34" charset="-122"/>
                <a:cs typeface="DM Sans" pitchFamily="34" charset="-120"/>
              </a:rPr>
              <a:t> Estimates formants, crucial for vowel production analysis.</a:t>
            </a:r>
            <a:endParaRPr lang="en-US" sz="1550" dirty="0"/>
          </a:p>
        </p:txBody>
      </p:sp>
      <p:sp>
        <p:nvSpPr>
          <p:cNvPr id="9" name="Text 7"/>
          <p:cNvSpPr/>
          <p:nvPr/>
        </p:nvSpPr>
        <p:spPr>
          <a:xfrm>
            <a:off x="986671" y="5089565"/>
            <a:ext cx="6007179" cy="63650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54240"/>
                </a:solidFill>
                <a:latin typeface="DM Sans" pitchFamily="34" charset="0"/>
                <a:ea typeface="DM Sans" pitchFamily="34" charset="-122"/>
                <a:cs typeface="DM Sans" pitchFamily="34" charset="-120"/>
              </a:rPr>
              <a:t>Jitter &amp; Shimmer:</a:t>
            </a:r>
            <a:r>
              <a:rPr lang="en-US" sz="1550" dirty="0">
                <a:solidFill>
                  <a:srgbClr val="454240"/>
                </a:solidFill>
                <a:latin typeface="DM Sans" pitchFamily="34" charset="0"/>
                <a:ea typeface="DM Sans" pitchFamily="34" charset="-122"/>
                <a:cs typeface="DM Sans" pitchFamily="34" charset="-120"/>
              </a:rPr>
              <a:t> Measures of vocal pitch and amplitude perturbation, direct indicators of vocal cord instability.</a:t>
            </a:r>
            <a:endParaRPr lang="en-US" sz="1550" dirty="0"/>
          </a:p>
        </p:txBody>
      </p:sp>
      <p:sp>
        <p:nvSpPr>
          <p:cNvPr id="10" name="Text 8"/>
          <p:cNvSpPr/>
          <p:nvPr/>
        </p:nvSpPr>
        <p:spPr>
          <a:xfrm>
            <a:off x="986671" y="5795605"/>
            <a:ext cx="6007179" cy="63650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54240"/>
                </a:solidFill>
                <a:latin typeface="DM Sans" pitchFamily="34" charset="0"/>
                <a:ea typeface="DM Sans" pitchFamily="34" charset="-122"/>
                <a:cs typeface="DM Sans" pitchFamily="34" charset="-120"/>
              </a:rPr>
              <a:t>LAR (Log Area Ratio):</a:t>
            </a:r>
            <a:r>
              <a:rPr lang="en-US" sz="1550" dirty="0">
                <a:solidFill>
                  <a:srgbClr val="454240"/>
                </a:solidFill>
                <a:latin typeface="DM Sans" pitchFamily="34" charset="0"/>
                <a:ea typeface="DM Sans" pitchFamily="34" charset="-122"/>
                <a:cs typeface="DM Sans" pitchFamily="34" charset="-120"/>
              </a:rPr>
              <a:t> Reflects the vocal tract shape during speech production.</a:t>
            </a:r>
            <a:endParaRPr lang="en-US" sz="1550" dirty="0"/>
          </a:p>
        </p:txBody>
      </p:sp>
      <p:sp>
        <p:nvSpPr>
          <p:cNvPr id="11" name="Text 9"/>
          <p:cNvSpPr/>
          <p:nvPr/>
        </p:nvSpPr>
        <p:spPr>
          <a:xfrm>
            <a:off x="986671" y="6501646"/>
            <a:ext cx="6007179" cy="63650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54240"/>
                </a:solidFill>
                <a:latin typeface="DM Sans" pitchFamily="34" charset="0"/>
                <a:ea typeface="DM Sans" pitchFamily="34" charset="-122"/>
                <a:cs typeface="DM Sans" pitchFamily="34" charset="-120"/>
              </a:rPr>
              <a:t>Prosodic Features:</a:t>
            </a:r>
            <a:r>
              <a:rPr lang="en-US" sz="1550" dirty="0">
                <a:solidFill>
                  <a:srgbClr val="454240"/>
                </a:solidFill>
                <a:latin typeface="DM Sans" pitchFamily="34" charset="0"/>
                <a:ea typeface="DM Sans" pitchFamily="34" charset="-122"/>
                <a:cs typeface="DM Sans" pitchFamily="34" charset="-120"/>
              </a:rPr>
              <a:t> Analyze rhythm, stress, and intonation, which are often affected in dysarthria.</a:t>
            </a:r>
            <a:endParaRPr lang="en-US" sz="1550" dirty="0"/>
          </a:p>
        </p:txBody>
      </p:sp>
      <p:sp>
        <p:nvSpPr>
          <p:cNvPr id="12" name="Shape 10"/>
          <p:cNvSpPr/>
          <p:nvPr/>
        </p:nvSpPr>
        <p:spPr>
          <a:xfrm>
            <a:off x="7414617" y="1889284"/>
            <a:ext cx="6519505" cy="5470684"/>
          </a:xfrm>
          <a:prstGeom prst="roundRect">
            <a:avLst>
              <a:gd name="adj" fmla="val 2006"/>
            </a:avLst>
          </a:prstGeom>
          <a:solidFill>
            <a:srgbClr val="FFFDFA"/>
          </a:solidFill>
          <a:ln w="22860">
            <a:solidFill>
              <a:srgbClr val="DDD3BA"/>
            </a:solidFill>
            <a:prstDash val="solid"/>
          </a:ln>
        </p:spPr>
        <p:txBody>
          <a:bodyPr/>
          <a:lstStyle/>
          <a:p>
            <a:endParaRPr lang="en-IN"/>
          </a:p>
        </p:txBody>
      </p:sp>
      <p:sp>
        <p:nvSpPr>
          <p:cNvPr id="13" name="Shape 11"/>
          <p:cNvSpPr/>
          <p:nvPr/>
        </p:nvSpPr>
        <p:spPr>
          <a:xfrm>
            <a:off x="7391757" y="1889284"/>
            <a:ext cx="91440" cy="5470684"/>
          </a:xfrm>
          <a:prstGeom prst="roundRect">
            <a:avLst>
              <a:gd name="adj" fmla="val 91386"/>
            </a:avLst>
          </a:prstGeom>
          <a:solidFill>
            <a:srgbClr val="B88E23"/>
          </a:solidFill>
          <a:ln/>
        </p:spPr>
        <p:txBody>
          <a:bodyPr/>
          <a:lstStyle/>
          <a:p>
            <a:endParaRPr lang="en-IN"/>
          </a:p>
        </p:txBody>
      </p:sp>
      <p:sp>
        <p:nvSpPr>
          <p:cNvPr id="14" name="Text 12"/>
          <p:cNvSpPr/>
          <p:nvPr/>
        </p:nvSpPr>
        <p:spPr>
          <a:xfrm>
            <a:off x="7705011" y="2111097"/>
            <a:ext cx="4007525" cy="373023"/>
          </a:xfrm>
          <a:prstGeom prst="rect">
            <a:avLst/>
          </a:prstGeom>
          <a:noFill/>
          <a:ln/>
        </p:spPr>
        <p:txBody>
          <a:bodyPr wrap="none" lIns="0" tIns="0" rIns="0" bIns="0" rtlCol="0" anchor="t"/>
          <a:lstStyle/>
          <a:p>
            <a:pPr marL="0" indent="0" algn="l">
              <a:lnSpc>
                <a:spcPts val="2900"/>
              </a:lnSpc>
              <a:buNone/>
            </a:pPr>
            <a:r>
              <a:rPr lang="en-US" sz="2300" dirty="0">
                <a:solidFill>
                  <a:srgbClr val="454240"/>
                </a:solidFill>
                <a:latin typeface="Libre Baskerville" pitchFamily="34" charset="0"/>
                <a:ea typeface="Libre Baskerville" pitchFamily="34" charset="-122"/>
                <a:cs typeface="Libre Baskerville" pitchFamily="34" charset="-120"/>
              </a:rPr>
              <a:t>Deep Speech Embeddings</a:t>
            </a:r>
            <a:endParaRPr lang="en-US" sz="2300" dirty="0"/>
          </a:p>
        </p:txBody>
      </p:sp>
      <p:sp>
        <p:nvSpPr>
          <p:cNvPr id="15" name="Text 13"/>
          <p:cNvSpPr/>
          <p:nvPr/>
        </p:nvSpPr>
        <p:spPr>
          <a:xfrm>
            <a:off x="7705011" y="2603421"/>
            <a:ext cx="6007298" cy="954762"/>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Generated by powerful deep learning models, these features capture complex, high-level contextual information from raw audio, often surpassing the capacity of handcrafted features.</a:t>
            </a:r>
            <a:endParaRPr lang="en-US" sz="1550" dirty="0"/>
          </a:p>
        </p:txBody>
      </p:sp>
      <p:sp>
        <p:nvSpPr>
          <p:cNvPr id="16" name="Text 14"/>
          <p:cNvSpPr/>
          <p:nvPr/>
        </p:nvSpPr>
        <p:spPr>
          <a:xfrm>
            <a:off x="7705011" y="3677483"/>
            <a:ext cx="6007298" cy="954762"/>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54240"/>
                </a:solidFill>
                <a:latin typeface="DM Sans" pitchFamily="34" charset="0"/>
                <a:ea typeface="DM Sans" pitchFamily="34" charset="-122"/>
                <a:cs typeface="DM Sans" pitchFamily="34" charset="-120"/>
              </a:rPr>
              <a:t>WavLM Transformer:</a:t>
            </a:r>
            <a:r>
              <a:rPr lang="en-US" sz="1550" dirty="0">
                <a:solidFill>
                  <a:srgbClr val="454240"/>
                </a:solidFill>
                <a:latin typeface="DM Sans" pitchFamily="34" charset="0"/>
                <a:ea typeface="DM Sans" pitchFamily="34" charset="-122"/>
                <a:cs typeface="DM Sans" pitchFamily="34" charset="-120"/>
              </a:rPr>
              <a:t> A state-of-the-art self-supervised pre-trained model designed to learn rich representations from speech audio.</a:t>
            </a:r>
            <a:endParaRPr lang="en-US" sz="1550" dirty="0"/>
          </a:p>
        </p:txBody>
      </p:sp>
      <p:sp>
        <p:nvSpPr>
          <p:cNvPr id="17" name="Text 15"/>
          <p:cNvSpPr/>
          <p:nvPr/>
        </p:nvSpPr>
        <p:spPr>
          <a:xfrm>
            <a:off x="7705011" y="4701778"/>
            <a:ext cx="6007298" cy="1273016"/>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454240"/>
                </a:solidFill>
                <a:latin typeface="DM Sans" pitchFamily="34" charset="0"/>
                <a:ea typeface="DM Sans" pitchFamily="34" charset="-122"/>
                <a:cs typeface="DM Sans" pitchFamily="34" charset="-120"/>
              </a:rPr>
              <a:t>Contextual Speech Embeddings:</a:t>
            </a:r>
            <a:r>
              <a:rPr lang="en-US" sz="1550" dirty="0">
                <a:solidFill>
                  <a:srgbClr val="454240"/>
                </a:solidFill>
                <a:latin typeface="DM Sans" pitchFamily="34" charset="0"/>
                <a:ea typeface="DM Sans" pitchFamily="34" charset="-122"/>
                <a:cs typeface="DM Sans" pitchFamily="34" charset="-120"/>
              </a:rPr>
              <a:t> Unlike static features, WavLM embeddings capture dynamic acoustic patterns and semantic information, providing a more comprehensive representation of the speech signal.</a:t>
            </a:r>
            <a:endParaRPr lang="en-US" sz="1550" dirty="0"/>
          </a:p>
        </p:txBody>
      </p:sp>
      <p:sp>
        <p:nvSpPr>
          <p:cNvPr id="21" name="Rectangle 20">
            <a:extLst>
              <a:ext uri="{FF2B5EF4-FFF2-40B4-BE49-F238E27FC236}">
                <a16:creationId xmlns:a16="http://schemas.microsoft.com/office/drawing/2014/main" id="{46254880-64D2-0308-7C13-85A81EA511CA}"/>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74583" y="372904"/>
            <a:ext cx="8457367" cy="423863"/>
          </a:xfrm>
          <a:prstGeom prst="rect">
            <a:avLst/>
          </a:prstGeom>
          <a:noFill/>
          <a:ln/>
        </p:spPr>
        <p:txBody>
          <a:bodyPr wrap="none" lIns="0" tIns="0" rIns="0" bIns="0" rtlCol="0" anchor="t"/>
          <a:lstStyle/>
          <a:p>
            <a:pPr marL="0" indent="0" algn="l">
              <a:lnSpc>
                <a:spcPts val="3300"/>
              </a:lnSpc>
              <a:buNone/>
            </a:pPr>
            <a:r>
              <a:rPr lang="en-US" sz="2650" dirty="0">
                <a:solidFill>
                  <a:srgbClr val="5C4E3D"/>
                </a:solidFill>
                <a:latin typeface="Libre Baskerville" pitchFamily="34" charset="0"/>
                <a:ea typeface="Libre Baskerville" pitchFamily="34" charset="-122"/>
                <a:cs typeface="Libre Baskerville" pitchFamily="34" charset="-120"/>
              </a:rPr>
              <a:t>Our Diagnostic Pathway: Proposed Methodology</a:t>
            </a:r>
            <a:endParaRPr lang="en-US" sz="2650" dirty="0"/>
          </a:p>
        </p:txBody>
      </p:sp>
      <p:pic>
        <p:nvPicPr>
          <p:cNvPr id="3" name="Image 0" descr="preencoded.png"/>
          <p:cNvPicPr>
            <a:picLocks noChangeAspect="1"/>
          </p:cNvPicPr>
          <p:nvPr/>
        </p:nvPicPr>
        <p:blipFill>
          <a:blip r:embed="rId3"/>
          <a:stretch>
            <a:fillRect/>
          </a:stretch>
        </p:blipFill>
        <p:spPr>
          <a:xfrm>
            <a:off x="584002" y="1067991"/>
            <a:ext cx="13462397" cy="7618214"/>
          </a:xfrm>
          <a:prstGeom prst="rect">
            <a:avLst/>
          </a:prstGeom>
        </p:spPr>
      </p:pic>
      <p:sp>
        <p:nvSpPr>
          <p:cNvPr id="4" name="Text 1"/>
          <p:cNvSpPr/>
          <p:nvPr/>
        </p:nvSpPr>
        <p:spPr>
          <a:xfrm>
            <a:off x="9005765" y="2023702"/>
            <a:ext cx="3078222" cy="384778"/>
          </a:xfrm>
          <a:prstGeom prst="rect">
            <a:avLst/>
          </a:prstGeom>
          <a:noFill/>
          <a:ln/>
        </p:spPr>
        <p:txBody>
          <a:bodyPr wrap="none" lIns="0" tIns="0" rIns="0" bIns="0" rtlCol="0" anchor="t"/>
          <a:lstStyle/>
          <a:p>
            <a:pPr marL="0" indent="0" algn="l">
              <a:lnSpc>
                <a:spcPts val="1650"/>
              </a:lnSpc>
              <a:buNone/>
            </a:pPr>
            <a:r>
              <a:rPr lang="en-US" sz="1350" dirty="0">
                <a:solidFill>
                  <a:srgbClr val="454240"/>
                </a:solidFill>
                <a:latin typeface="Libre Baskerville" pitchFamily="34" charset="0"/>
                <a:ea typeface="Libre Baskerville" pitchFamily="34" charset="-122"/>
                <a:cs typeface="Libre Baskerville" pitchFamily="34" charset="-120"/>
              </a:rPr>
              <a:t>Speech Input</a:t>
            </a:r>
            <a:endParaRPr lang="en-US" sz="1350" dirty="0"/>
          </a:p>
        </p:txBody>
      </p:sp>
      <p:sp>
        <p:nvSpPr>
          <p:cNvPr id="5" name="Text 2"/>
          <p:cNvSpPr/>
          <p:nvPr/>
        </p:nvSpPr>
        <p:spPr>
          <a:xfrm>
            <a:off x="9005765" y="2517928"/>
            <a:ext cx="4719942" cy="615645"/>
          </a:xfrm>
          <a:prstGeom prst="rect">
            <a:avLst/>
          </a:prstGeom>
          <a:noFill/>
          <a:ln/>
        </p:spPr>
        <p:txBody>
          <a:bodyPr wrap="square" lIns="0" tIns="0" rIns="0" bIns="0" rtlCol="0" anchor="t"/>
          <a:lstStyle/>
          <a:p>
            <a:pPr marL="0" indent="0" algn="l">
              <a:lnSpc>
                <a:spcPts val="1350"/>
              </a:lnSpc>
              <a:buNone/>
            </a:pPr>
            <a:r>
              <a:rPr lang="en-US" sz="1050" dirty="0">
                <a:solidFill>
                  <a:srgbClr val="454240"/>
                </a:solidFill>
                <a:latin typeface="DM Sans" pitchFamily="34" charset="0"/>
                <a:ea typeface="DM Sans" pitchFamily="34" charset="-122"/>
                <a:cs typeface="DM Sans" pitchFamily="34" charset="-120"/>
              </a:rPr>
              <a:t>Recordings in .wav format from patient speech tasks.</a:t>
            </a:r>
            <a:endParaRPr lang="en-US" sz="105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06539" y="2022847"/>
            <a:ext cx="410431" cy="410430"/>
          </a:xfrm>
          <a:prstGeom prst="rect">
            <a:avLst/>
          </a:prstGeom>
        </p:spPr>
      </p:pic>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52122" y="3527756"/>
            <a:ext cx="410430" cy="410430"/>
          </a:xfrm>
          <a:prstGeom prst="rect">
            <a:avLst/>
          </a:prstGeom>
        </p:spPr>
      </p:pic>
      <p:sp>
        <p:nvSpPr>
          <p:cNvPr id="8" name="Text 3"/>
          <p:cNvSpPr/>
          <p:nvPr/>
        </p:nvSpPr>
        <p:spPr>
          <a:xfrm>
            <a:off x="2546199" y="3526687"/>
            <a:ext cx="3078223" cy="384778"/>
          </a:xfrm>
          <a:prstGeom prst="rect">
            <a:avLst/>
          </a:prstGeom>
          <a:noFill/>
          <a:ln/>
        </p:spPr>
        <p:txBody>
          <a:bodyPr wrap="none" lIns="0" tIns="0" rIns="0" bIns="0" rtlCol="0" anchor="t"/>
          <a:lstStyle/>
          <a:p>
            <a:pPr marL="0" indent="0" algn="r">
              <a:lnSpc>
                <a:spcPts val="1650"/>
              </a:lnSpc>
              <a:buNone/>
            </a:pPr>
            <a:r>
              <a:rPr lang="en-US" sz="1350" dirty="0">
                <a:solidFill>
                  <a:srgbClr val="454240"/>
                </a:solidFill>
                <a:latin typeface="Libre Baskerville" pitchFamily="34" charset="0"/>
                <a:ea typeface="Libre Baskerville" pitchFamily="34" charset="-122"/>
                <a:cs typeface="Libre Baskerville" pitchFamily="34" charset="-120"/>
              </a:rPr>
              <a:t>Preprocessing</a:t>
            </a:r>
            <a:endParaRPr lang="en-US" sz="1350" dirty="0"/>
          </a:p>
        </p:txBody>
      </p:sp>
      <p:sp>
        <p:nvSpPr>
          <p:cNvPr id="9" name="Text 4"/>
          <p:cNvSpPr/>
          <p:nvPr/>
        </p:nvSpPr>
        <p:spPr>
          <a:xfrm>
            <a:off x="904480" y="4020913"/>
            <a:ext cx="4719942" cy="615644"/>
          </a:xfrm>
          <a:prstGeom prst="rect">
            <a:avLst/>
          </a:prstGeom>
          <a:noFill/>
          <a:ln/>
        </p:spPr>
        <p:txBody>
          <a:bodyPr wrap="square" lIns="0" tIns="0" rIns="0" bIns="0" rtlCol="0" anchor="t"/>
          <a:lstStyle/>
          <a:p>
            <a:pPr marL="0" indent="0" algn="r">
              <a:lnSpc>
                <a:spcPts val="1350"/>
              </a:lnSpc>
              <a:buNone/>
            </a:pPr>
            <a:r>
              <a:rPr lang="en-US" sz="1050" dirty="0">
                <a:solidFill>
                  <a:srgbClr val="454240"/>
                </a:solidFill>
                <a:latin typeface="DM Sans" pitchFamily="34" charset="0"/>
                <a:ea typeface="DM Sans" pitchFamily="34" charset="-122"/>
                <a:cs typeface="DM Sans" pitchFamily="34" charset="-120"/>
              </a:rPr>
              <a:t>Noise reduction, normalization, and segmentation of recordings.</a:t>
            </a:r>
            <a:endParaRPr lang="en-US" sz="1050" dirty="0"/>
          </a:p>
        </p:txBody>
      </p:sp>
      <p:sp>
        <p:nvSpPr>
          <p:cNvPr id="10" name="Text 5"/>
          <p:cNvSpPr/>
          <p:nvPr/>
        </p:nvSpPr>
        <p:spPr>
          <a:xfrm>
            <a:off x="9005765" y="5033520"/>
            <a:ext cx="3078222" cy="384778"/>
          </a:xfrm>
          <a:prstGeom prst="rect">
            <a:avLst/>
          </a:prstGeom>
          <a:noFill/>
          <a:ln/>
        </p:spPr>
        <p:txBody>
          <a:bodyPr wrap="none" lIns="0" tIns="0" rIns="0" bIns="0" rtlCol="0" anchor="t"/>
          <a:lstStyle/>
          <a:p>
            <a:pPr marL="0" indent="0" algn="l">
              <a:lnSpc>
                <a:spcPts val="1650"/>
              </a:lnSpc>
              <a:buNone/>
            </a:pPr>
            <a:r>
              <a:rPr lang="en-US" sz="1350" dirty="0">
                <a:solidFill>
                  <a:srgbClr val="454240"/>
                </a:solidFill>
                <a:latin typeface="Libre Baskerville" pitchFamily="34" charset="0"/>
                <a:ea typeface="Libre Baskerville" pitchFamily="34" charset="-122"/>
                <a:cs typeface="Libre Baskerville" pitchFamily="34" charset="-120"/>
              </a:rPr>
              <a:t>Feature Extraction</a:t>
            </a:r>
            <a:endParaRPr lang="en-US" sz="1350" dirty="0"/>
          </a:p>
        </p:txBody>
      </p:sp>
      <p:sp>
        <p:nvSpPr>
          <p:cNvPr id="11" name="Text 6"/>
          <p:cNvSpPr/>
          <p:nvPr/>
        </p:nvSpPr>
        <p:spPr>
          <a:xfrm>
            <a:off x="9005765" y="5527745"/>
            <a:ext cx="4719942" cy="615645"/>
          </a:xfrm>
          <a:prstGeom prst="rect">
            <a:avLst/>
          </a:prstGeom>
          <a:noFill/>
          <a:ln/>
        </p:spPr>
        <p:txBody>
          <a:bodyPr wrap="square" lIns="0" tIns="0" rIns="0" bIns="0" rtlCol="0" anchor="t"/>
          <a:lstStyle/>
          <a:p>
            <a:pPr marL="0" indent="0" algn="l">
              <a:lnSpc>
                <a:spcPts val="1350"/>
              </a:lnSpc>
              <a:buNone/>
            </a:pPr>
            <a:r>
              <a:rPr lang="en-US" sz="1050" dirty="0">
                <a:solidFill>
                  <a:srgbClr val="454240"/>
                </a:solidFill>
                <a:latin typeface="DM Sans" pitchFamily="34" charset="0"/>
                <a:ea typeface="DM Sans" pitchFamily="34" charset="-122"/>
                <a:cs typeface="DM Sans" pitchFamily="34" charset="-120"/>
              </a:rPr>
              <a:t>Handcrafted features and WavLM embeddings computed in parallel.</a:t>
            </a:r>
            <a:endParaRPr lang="en-US" sz="1050" dirty="0"/>
          </a:p>
        </p:txBody>
      </p:sp>
      <p:pic>
        <p:nvPicPr>
          <p:cNvPr id="1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6539" y="5032664"/>
            <a:ext cx="410431" cy="410430"/>
          </a:xfrm>
          <a:prstGeom prst="rect">
            <a:avLst/>
          </a:prstGeom>
        </p:spPr>
      </p:pic>
      <p:sp>
        <p:nvSpPr>
          <p:cNvPr id="13" name="Text 7"/>
          <p:cNvSpPr/>
          <p:nvPr/>
        </p:nvSpPr>
        <p:spPr>
          <a:xfrm>
            <a:off x="2548337" y="6538429"/>
            <a:ext cx="3078223" cy="384778"/>
          </a:xfrm>
          <a:prstGeom prst="rect">
            <a:avLst/>
          </a:prstGeom>
          <a:noFill/>
          <a:ln/>
        </p:spPr>
        <p:txBody>
          <a:bodyPr wrap="none" lIns="0" tIns="0" rIns="0" bIns="0" rtlCol="0" anchor="t"/>
          <a:lstStyle/>
          <a:p>
            <a:pPr marL="0" indent="0" algn="r">
              <a:lnSpc>
                <a:spcPts val="1650"/>
              </a:lnSpc>
              <a:buNone/>
            </a:pPr>
            <a:r>
              <a:rPr lang="en-US" sz="1350" dirty="0">
                <a:solidFill>
                  <a:srgbClr val="454240"/>
                </a:solidFill>
                <a:latin typeface="Libre Baskerville" pitchFamily="34" charset="0"/>
                <a:ea typeface="Libre Baskerville" pitchFamily="34" charset="-122"/>
                <a:cs typeface="Libre Baskerville" pitchFamily="34" charset="-120"/>
              </a:rPr>
              <a:t>Feature Fusion</a:t>
            </a:r>
            <a:endParaRPr lang="en-US" sz="1350" dirty="0"/>
          </a:p>
        </p:txBody>
      </p:sp>
      <p:sp>
        <p:nvSpPr>
          <p:cNvPr id="14" name="Text 8"/>
          <p:cNvSpPr/>
          <p:nvPr/>
        </p:nvSpPr>
        <p:spPr>
          <a:xfrm>
            <a:off x="906618" y="7032654"/>
            <a:ext cx="4719942" cy="615645"/>
          </a:xfrm>
          <a:prstGeom prst="rect">
            <a:avLst/>
          </a:prstGeom>
          <a:noFill/>
          <a:ln/>
        </p:spPr>
        <p:txBody>
          <a:bodyPr wrap="square" lIns="0" tIns="0" rIns="0" bIns="0" rtlCol="0" anchor="t"/>
          <a:lstStyle/>
          <a:p>
            <a:pPr marL="0" indent="0" algn="r">
              <a:lnSpc>
                <a:spcPts val="1350"/>
              </a:lnSpc>
              <a:buNone/>
            </a:pPr>
            <a:r>
              <a:rPr lang="en-US" sz="1050" dirty="0">
                <a:solidFill>
                  <a:srgbClr val="454240"/>
                </a:solidFill>
                <a:latin typeface="DM Sans" pitchFamily="34" charset="0"/>
                <a:ea typeface="DM Sans" pitchFamily="34" charset="-122"/>
                <a:cs typeface="DM Sans" pitchFamily="34" charset="-120"/>
              </a:rPr>
              <a:t>Combine handcrafted and embedding features into a single vector.</a:t>
            </a:r>
            <a:endParaRPr lang="en-US" sz="1050" dirty="0"/>
          </a:p>
        </p:txBody>
      </p:sp>
      <p:pic>
        <p:nvPicPr>
          <p:cNvPr id="15"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52122" y="6537574"/>
            <a:ext cx="410430" cy="410430"/>
          </a:xfrm>
          <a:prstGeom prst="rect">
            <a:avLst/>
          </a:prstGeom>
        </p:spPr>
      </p:pic>
      <p:sp>
        <p:nvSpPr>
          <p:cNvPr id="16" name="Text 9"/>
          <p:cNvSpPr/>
          <p:nvPr/>
        </p:nvSpPr>
        <p:spPr>
          <a:xfrm>
            <a:off x="474583" y="8838724"/>
            <a:ext cx="13681234" cy="650796"/>
          </a:xfrm>
          <a:prstGeom prst="rect">
            <a:avLst/>
          </a:prstGeom>
          <a:noFill/>
          <a:ln/>
        </p:spPr>
        <p:txBody>
          <a:bodyPr wrap="square" lIns="0" tIns="0" rIns="0" bIns="0" rtlCol="0" anchor="t"/>
          <a:lstStyle/>
          <a:p>
            <a:pPr marL="0" indent="0" algn="l">
              <a:lnSpc>
                <a:spcPts val="1700"/>
              </a:lnSpc>
              <a:buNone/>
            </a:pPr>
            <a:r>
              <a:rPr lang="en-US" sz="1050" dirty="0">
                <a:solidFill>
                  <a:srgbClr val="454240"/>
                </a:solidFill>
                <a:latin typeface="DM Sans" pitchFamily="34" charset="0"/>
                <a:ea typeface="DM Sans" pitchFamily="34" charset="-122"/>
                <a:cs typeface="DM Sans" pitchFamily="34" charset="-120"/>
              </a:rPr>
              <a:t>This flowchart illustrates our comprehensive approach to Parkinson's Disease detection. Raw speech input undergoes rigorous preprocessing, after which it branches into two distinct feature extraction pathways: traditional handcrafted features and advanced deep learning embeddings from WavLM. These features are then intelligently fused and subjected to dimensionality reduction via PCA before being fed into various Machine Learning models for final prediction. This integrated methodology aims to leverage the strengths of both classical and modern techniques for robust and accurate detection.</a:t>
            </a:r>
            <a:endParaRPr lang="en-US" sz="1050" dirty="0"/>
          </a:p>
        </p:txBody>
      </p:sp>
      <p:sp>
        <p:nvSpPr>
          <p:cNvPr id="17" name="Rectangle 16">
            <a:extLst>
              <a:ext uri="{FF2B5EF4-FFF2-40B4-BE49-F238E27FC236}">
                <a16:creationId xmlns:a16="http://schemas.microsoft.com/office/drawing/2014/main" id="{8B4B39B5-4326-C06D-7B1D-E251DF629052}"/>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7942" y="532686"/>
            <a:ext cx="13274516" cy="1210866"/>
          </a:xfrm>
          <a:prstGeom prst="rect">
            <a:avLst/>
          </a:prstGeom>
          <a:noFill/>
          <a:ln/>
        </p:spPr>
        <p:txBody>
          <a:bodyPr wrap="square" lIns="0" tIns="0" rIns="0" bIns="0" rtlCol="0" anchor="t"/>
          <a:lstStyle/>
          <a:p>
            <a:pPr marL="0" indent="0" algn="l">
              <a:lnSpc>
                <a:spcPts val="4750"/>
              </a:lnSpc>
              <a:buNone/>
            </a:pPr>
            <a:r>
              <a:rPr lang="en-US" sz="3800" dirty="0">
                <a:solidFill>
                  <a:srgbClr val="5C4E3D"/>
                </a:solidFill>
                <a:latin typeface="Libre Baskerville" pitchFamily="34" charset="0"/>
                <a:ea typeface="Libre Baskerville" pitchFamily="34" charset="-122"/>
                <a:cs typeface="Libre Baskerville" pitchFamily="34" charset="-120"/>
              </a:rPr>
              <a:t>Intelligent Analysis: Machine Learning Models Employed</a:t>
            </a:r>
            <a:endParaRPr lang="en-US" sz="38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7942" y="2130981"/>
            <a:ext cx="581144" cy="581144"/>
          </a:xfrm>
          <a:prstGeom prst="rect">
            <a:avLst/>
          </a:prstGeom>
        </p:spPr>
      </p:pic>
      <p:sp>
        <p:nvSpPr>
          <p:cNvPr id="4" name="Text 1"/>
          <p:cNvSpPr/>
          <p:nvPr/>
        </p:nvSpPr>
        <p:spPr>
          <a:xfrm>
            <a:off x="677942" y="2954179"/>
            <a:ext cx="2421493" cy="302657"/>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Random Forest</a:t>
            </a:r>
            <a:endParaRPr lang="en-US" sz="1900" dirty="0"/>
          </a:p>
        </p:txBody>
      </p:sp>
      <p:sp>
        <p:nvSpPr>
          <p:cNvPr id="5" name="Text 2"/>
          <p:cNvSpPr/>
          <p:nvPr/>
        </p:nvSpPr>
        <p:spPr>
          <a:xfrm>
            <a:off x="677942" y="3373041"/>
            <a:ext cx="6516172" cy="929759"/>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An ensemble learning method operating by constructing a multitude of decision trees. It excels in handling complex datasets and reducing overfitting, providing robust predictions.</a:t>
            </a:r>
            <a:endParaRPr lang="en-US" sz="150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6168" y="2130981"/>
            <a:ext cx="581144" cy="581144"/>
          </a:xfrm>
          <a:prstGeom prst="rect">
            <a:avLst/>
          </a:prstGeom>
        </p:spPr>
      </p:pic>
      <p:sp>
        <p:nvSpPr>
          <p:cNvPr id="7" name="Text 3"/>
          <p:cNvSpPr/>
          <p:nvPr/>
        </p:nvSpPr>
        <p:spPr>
          <a:xfrm>
            <a:off x="7436168" y="2954179"/>
            <a:ext cx="3855720" cy="302657"/>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Support Vector Machine (SVM)</a:t>
            </a:r>
            <a:endParaRPr lang="en-US" sz="1900" dirty="0"/>
          </a:p>
        </p:txBody>
      </p:sp>
      <p:sp>
        <p:nvSpPr>
          <p:cNvPr id="8" name="Text 4"/>
          <p:cNvSpPr/>
          <p:nvPr/>
        </p:nvSpPr>
        <p:spPr>
          <a:xfrm>
            <a:off x="7436168" y="3373041"/>
            <a:ext cx="6516291" cy="929759"/>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A powerful supervised learning model used for classification and regression tasks. SVM works by finding an optimal hyperplane that best separates data points into different classes.</a:t>
            </a:r>
            <a:endParaRPr lang="en-US" sz="150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7942" y="4690229"/>
            <a:ext cx="581144" cy="581144"/>
          </a:xfrm>
          <a:prstGeom prst="rect">
            <a:avLst/>
          </a:prstGeom>
        </p:spPr>
      </p:pic>
      <p:sp>
        <p:nvSpPr>
          <p:cNvPr id="10" name="Text 5"/>
          <p:cNvSpPr/>
          <p:nvPr/>
        </p:nvSpPr>
        <p:spPr>
          <a:xfrm>
            <a:off x="677942" y="5513427"/>
            <a:ext cx="2421493" cy="302657"/>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XGBoost</a:t>
            </a:r>
            <a:endParaRPr lang="en-US" sz="1900" dirty="0"/>
          </a:p>
        </p:txBody>
      </p:sp>
      <p:sp>
        <p:nvSpPr>
          <p:cNvPr id="11" name="Text 6"/>
          <p:cNvSpPr/>
          <p:nvPr/>
        </p:nvSpPr>
        <p:spPr>
          <a:xfrm>
            <a:off x="677942" y="5932289"/>
            <a:ext cx="6516172" cy="929759"/>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An optimized distributed gradient boosting library designed for speed and performance. It's highly effective in various predictive modeling tasks due to its efficiency and flexibility.</a:t>
            </a:r>
            <a:endParaRPr lang="en-US" sz="150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6168" y="4690229"/>
            <a:ext cx="581144" cy="581144"/>
          </a:xfrm>
          <a:prstGeom prst="rect">
            <a:avLst/>
          </a:prstGeom>
        </p:spPr>
      </p:pic>
      <p:sp>
        <p:nvSpPr>
          <p:cNvPr id="13" name="Text 7"/>
          <p:cNvSpPr/>
          <p:nvPr/>
        </p:nvSpPr>
        <p:spPr>
          <a:xfrm>
            <a:off x="7436168" y="5513427"/>
            <a:ext cx="4305776" cy="302657"/>
          </a:xfrm>
          <a:prstGeom prst="rect">
            <a:avLst/>
          </a:prstGeom>
          <a:noFill/>
          <a:ln/>
        </p:spPr>
        <p:txBody>
          <a:bodyPr wrap="none" lIns="0" tIns="0" rIns="0" bIns="0" rtlCol="0" anchor="t"/>
          <a:lstStyle/>
          <a:p>
            <a:pPr marL="0" indent="0" algn="l">
              <a:lnSpc>
                <a:spcPts val="2350"/>
              </a:lnSpc>
              <a:buNone/>
            </a:pPr>
            <a:r>
              <a:rPr lang="en-US" sz="1900" dirty="0">
                <a:solidFill>
                  <a:srgbClr val="454240"/>
                </a:solidFill>
                <a:latin typeface="Libre Baskerville" pitchFamily="34" charset="0"/>
                <a:ea typeface="Libre Baskerville" pitchFamily="34" charset="-122"/>
                <a:cs typeface="Libre Baskerville" pitchFamily="34" charset="-120"/>
              </a:rPr>
              <a:t>PCA for Dimensionality Reduction</a:t>
            </a:r>
            <a:endParaRPr lang="en-US" sz="1900" dirty="0"/>
          </a:p>
        </p:txBody>
      </p:sp>
      <p:sp>
        <p:nvSpPr>
          <p:cNvPr id="14" name="Text 8"/>
          <p:cNvSpPr/>
          <p:nvPr/>
        </p:nvSpPr>
        <p:spPr>
          <a:xfrm>
            <a:off x="7436168" y="5932289"/>
            <a:ext cx="6516291" cy="929759"/>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Principal Component Analysis (PCA) is employed to transform high-dimensional data into a lower-dimensional representation while retaining most of its variance, mitigating the curse of dimensionality.</a:t>
            </a:r>
            <a:endParaRPr lang="en-US" sz="1500" dirty="0"/>
          </a:p>
        </p:txBody>
      </p:sp>
      <p:sp>
        <p:nvSpPr>
          <p:cNvPr id="15" name="Text 9"/>
          <p:cNvSpPr/>
          <p:nvPr/>
        </p:nvSpPr>
        <p:spPr>
          <a:xfrm>
            <a:off x="677942" y="7079933"/>
            <a:ext cx="13274516" cy="619839"/>
          </a:xfrm>
          <a:prstGeom prst="rect">
            <a:avLst/>
          </a:prstGeom>
          <a:noFill/>
          <a:ln/>
        </p:spPr>
        <p:txBody>
          <a:bodyPr wrap="square" lIns="0" tIns="0" rIns="0" bIns="0" rtlCol="0" anchor="t"/>
          <a:lstStyle/>
          <a:p>
            <a:pPr marL="0" indent="0" algn="l">
              <a:lnSpc>
                <a:spcPts val="2400"/>
              </a:lnSpc>
              <a:buNone/>
            </a:pPr>
            <a:r>
              <a:rPr lang="en-US" sz="1500" dirty="0">
                <a:solidFill>
                  <a:srgbClr val="454240"/>
                </a:solidFill>
                <a:latin typeface="DM Sans" pitchFamily="34" charset="0"/>
                <a:ea typeface="DM Sans" pitchFamily="34" charset="-122"/>
                <a:cs typeface="DM Sans" pitchFamily="34" charset="-120"/>
              </a:rPr>
              <a:t>We conducted a thorough comparison of these models across three feature sets: exclusively handcrafted features, deep embeddings from WavLM, and a hybrid combination of both, to identify the most effective approach for PD detection.</a:t>
            </a:r>
            <a:endParaRPr lang="en-US" sz="1500" dirty="0"/>
          </a:p>
        </p:txBody>
      </p:sp>
      <p:sp>
        <p:nvSpPr>
          <p:cNvPr id="16" name="Rectangle 15">
            <a:extLst>
              <a:ext uri="{FF2B5EF4-FFF2-40B4-BE49-F238E27FC236}">
                <a16:creationId xmlns:a16="http://schemas.microsoft.com/office/drawing/2014/main" id="{A0CA1B1E-D4A7-9B26-32D6-2BAEA54E8D11}"/>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00564" y="736283"/>
            <a:ext cx="10078045" cy="625435"/>
          </a:xfrm>
          <a:prstGeom prst="rect">
            <a:avLst/>
          </a:prstGeom>
          <a:noFill/>
          <a:ln/>
        </p:spPr>
        <p:txBody>
          <a:bodyPr wrap="none" lIns="0" tIns="0" rIns="0" bIns="0" rtlCol="0" anchor="t"/>
          <a:lstStyle/>
          <a:p>
            <a:pPr marL="0" indent="0" algn="l">
              <a:lnSpc>
                <a:spcPts val="4900"/>
              </a:lnSpc>
              <a:buNone/>
            </a:pPr>
            <a:r>
              <a:rPr lang="en-US" sz="3900" dirty="0">
                <a:solidFill>
                  <a:srgbClr val="5C4E3D"/>
                </a:solidFill>
                <a:latin typeface="Libre Baskerville" pitchFamily="34" charset="0"/>
                <a:ea typeface="Libre Baskerville" pitchFamily="34" charset="-122"/>
                <a:cs typeface="Libre Baskerville" pitchFamily="34" charset="-120"/>
              </a:rPr>
              <a:t>Key Findings: Results and Observations</a:t>
            </a:r>
            <a:endParaRPr lang="en-US" sz="3900" dirty="0"/>
          </a:p>
        </p:txBody>
      </p:sp>
      <p:sp>
        <p:nvSpPr>
          <p:cNvPr id="3" name="Shape 1"/>
          <p:cNvSpPr/>
          <p:nvPr/>
        </p:nvSpPr>
        <p:spPr>
          <a:xfrm>
            <a:off x="700564" y="1762006"/>
            <a:ext cx="4276249" cy="3402211"/>
          </a:xfrm>
          <a:prstGeom prst="roundRect">
            <a:avLst>
              <a:gd name="adj" fmla="val 14121"/>
            </a:avLst>
          </a:prstGeom>
          <a:solidFill>
            <a:srgbClr val="F7EDD4"/>
          </a:solidFill>
          <a:ln w="7620">
            <a:solidFill>
              <a:srgbClr val="DDD3BA"/>
            </a:solidFill>
            <a:prstDash val="solid"/>
          </a:ln>
        </p:spPr>
        <p:txBody>
          <a:bodyPr/>
          <a:lstStyle/>
          <a:p>
            <a:endParaRPr lang="en-IN"/>
          </a:p>
        </p:txBody>
      </p:sp>
      <p:sp>
        <p:nvSpPr>
          <p:cNvPr id="4" name="Text 2"/>
          <p:cNvSpPr/>
          <p:nvPr/>
        </p:nvSpPr>
        <p:spPr>
          <a:xfrm>
            <a:off x="908328" y="1969770"/>
            <a:ext cx="3860721" cy="625554"/>
          </a:xfrm>
          <a:prstGeom prst="rect">
            <a:avLst/>
          </a:prstGeom>
          <a:noFill/>
          <a:ln/>
        </p:spPr>
        <p:txBody>
          <a:bodyPr wrap="squar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Diagnostic Relevance of Speech</a:t>
            </a:r>
            <a:endParaRPr lang="en-US" sz="1950" dirty="0"/>
          </a:p>
        </p:txBody>
      </p:sp>
      <p:sp>
        <p:nvSpPr>
          <p:cNvPr id="5" name="Text 3"/>
          <p:cNvSpPr/>
          <p:nvPr/>
        </p:nvSpPr>
        <p:spPr>
          <a:xfrm>
            <a:off x="908328" y="2715339"/>
            <a:ext cx="3860721" cy="2241113"/>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Our analysis consistently demonstrated that speech features, both handcrafted and deep, hold significant diagnostic relevance for distinguishing between PD patients and healthy controls. This reinforces the potential of voice as a non-invasive biomarker.</a:t>
            </a:r>
            <a:endParaRPr lang="en-US" sz="1550" dirty="0"/>
          </a:p>
        </p:txBody>
      </p:sp>
      <p:sp>
        <p:nvSpPr>
          <p:cNvPr id="6" name="Shape 4"/>
          <p:cNvSpPr/>
          <p:nvPr/>
        </p:nvSpPr>
        <p:spPr>
          <a:xfrm>
            <a:off x="5176957" y="1762006"/>
            <a:ext cx="4276368" cy="3402211"/>
          </a:xfrm>
          <a:prstGeom prst="roundRect">
            <a:avLst>
              <a:gd name="adj" fmla="val 14121"/>
            </a:avLst>
          </a:prstGeom>
          <a:solidFill>
            <a:srgbClr val="F7EDD4"/>
          </a:solidFill>
          <a:ln w="7620">
            <a:solidFill>
              <a:srgbClr val="DDD3BA"/>
            </a:solidFill>
            <a:prstDash val="solid"/>
          </a:ln>
        </p:spPr>
        <p:txBody>
          <a:bodyPr/>
          <a:lstStyle/>
          <a:p>
            <a:endParaRPr lang="en-IN"/>
          </a:p>
        </p:txBody>
      </p:sp>
      <p:sp>
        <p:nvSpPr>
          <p:cNvPr id="7" name="Text 5"/>
          <p:cNvSpPr/>
          <p:nvPr/>
        </p:nvSpPr>
        <p:spPr>
          <a:xfrm>
            <a:off x="5384721" y="1969770"/>
            <a:ext cx="3351848" cy="312777"/>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Classical ML Effectiveness</a:t>
            </a:r>
            <a:endParaRPr lang="en-US" sz="1950" dirty="0"/>
          </a:p>
        </p:txBody>
      </p:sp>
      <p:sp>
        <p:nvSpPr>
          <p:cNvPr id="8" name="Text 6"/>
          <p:cNvSpPr/>
          <p:nvPr/>
        </p:nvSpPr>
        <p:spPr>
          <a:xfrm>
            <a:off x="5384721" y="2402562"/>
            <a:ext cx="3860840" cy="1600795"/>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Classical machine learning models like Random Forest and SVM proved effective in learning discriminative patterns from the extracted speech features, achieving commendable performance metrics.</a:t>
            </a:r>
            <a:endParaRPr lang="en-US" sz="1550" dirty="0"/>
          </a:p>
        </p:txBody>
      </p:sp>
      <p:sp>
        <p:nvSpPr>
          <p:cNvPr id="9" name="Shape 7"/>
          <p:cNvSpPr/>
          <p:nvPr/>
        </p:nvSpPr>
        <p:spPr>
          <a:xfrm>
            <a:off x="9653468" y="1762006"/>
            <a:ext cx="4276368" cy="3402211"/>
          </a:xfrm>
          <a:prstGeom prst="roundRect">
            <a:avLst>
              <a:gd name="adj" fmla="val 14121"/>
            </a:avLst>
          </a:prstGeom>
          <a:solidFill>
            <a:srgbClr val="F7EDD4"/>
          </a:solidFill>
          <a:ln w="7620">
            <a:solidFill>
              <a:srgbClr val="DDD3BA"/>
            </a:solidFill>
            <a:prstDash val="solid"/>
          </a:ln>
        </p:spPr>
        <p:txBody>
          <a:bodyPr/>
          <a:lstStyle/>
          <a:p>
            <a:endParaRPr lang="en-IN"/>
          </a:p>
        </p:txBody>
      </p:sp>
      <p:sp>
        <p:nvSpPr>
          <p:cNvPr id="10" name="Text 8"/>
          <p:cNvSpPr/>
          <p:nvPr/>
        </p:nvSpPr>
        <p:spPr>
          <a:xfrm>
            <a:off x="9861233" y="1969770"/>
            <a:ext cx="2502218" cy="312777"/>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WavLM's Role</a:t>
            </a:r>
            <a:endParaRPr lang="en-US" sz="1950" dirty="0"/>
          </a:p>
        </p:txBody>
      </p:sp>
      <p:sp>
        <p:nvSpPr>
          <p:cNvPr id="11" name="Text 9"/>
          <p:cNvSpPr/>
          <p:nvPr/>
        </p:nvSpPr>
        <p:spPr>
          <a:xfrm>
            <a:off x="9861233" y="2402562"/>
            <a:ext cx="3860840" cy="1600795"/>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While WavLM embeddings alone showed moderate performance, they captured intricate contextual information, suggesting their value as a component within a more comprehensive system.</a:t>
            </a:r>
            <a:endParaRPr lang="en-US" sz="1550" dirty="0"/>
          </a:p>
        </p:txBody>
      </p:sp>
      <p:sp>
        <p:nvSpPr>
          <p:cNvPr id="12" name="Shape 10"/>
          <p:cNvSpPr/>
          <p:nvPr/>
        </p:nvSpPr>
        <p:spPr>
          <a:xfrm>
            <a:off x="700564" y="5364361"/>
            <a:ext cx="6514505" cy="2128957"/>
          </a:xfrm>
          <a:prstGeom prst="roundRect">
            <a:avLst>
              <a:gd name="adj" fmla="val 22567"/>
            </a:avLst>
          </a:prstGeom>
          <a:solidFill>
            <a:srgbClr val="F7EDD4"/>
          </a:solidFill>
          <a:ln w="7620">
            <a:solidFill>
              <a:srgbClr val="DDD3BA"/>
            </a:solidFill>
            <a:prstDash val="solid"/>
          </a:ln>
        </p:spPr>
        <p:txBody>
          <a:bodyPr/>
          <a:lstStyle/>
          <a:p>
            <a:endParaRPr lang="en-IN"/>
          </a:p>
        </p:txBody>
      </p:sp>
      <p:sp>
        <p:nvSpPr>
          <p:cNvPr id="13" name="Text 11"/>
          <p:cNvSpPr/>
          <p:nvPr/>
        </p:nvSpPr>
        <p:spPr>
          <a:xfrm>
            <a:off x="908328" y="5572125"/>
            <a:ext cx="3818811" cy="312777"/>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Hybrid Feature Enhancement</a:t>
            </a:r>
            <a:endParaRPr lang="en-US" sz="1950" dirty="0"/>
          </a:p>
        </p:txBody>
      </p:sp>
      <p:sp>
        <p:nvSpPr>
          <p:cNvPr id="14" name="Text 12"/>
          <p:cNvSpPr/>
          <p:nvPr/>
        </p:nvSpPr>
        <p:spPr>
          <a:xfrm>
            <a:off x="908328" y="6004917"/>
            <a:ext cx="6098977" cy="1280636"/>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The integration of both handcrafted and deep features into a hybrid model significantly improved detection. This approach enhanced </a:t>
            </a:r>
            <a:r>
              <a:rPr lang="en-US" sz="1550" b="1" dirty="0">
                <a:solidFill>
                  <a:srgbClr val="454240"/>
                </a:solidFill>
                <a:latin typeface="DM Sans" pitchFamily="34" charset="0"/>
                <a:ea typeface="DM Sans" pitchFamily="34" charset="-122"/>
                <a:cs typeface="DM Sans" pitchFamily="34" charset="-120"/>
              </a:rPr>
              <a:t>robustness, stability, and interpretability</a:t>
            </a:r>
            <a:r>
              <a:rPr lang="en-US" sz="1550" dirty="0">
                <a:solidFill>
                  <a:srgbClr val="454240"/>
                </a:solidFill>
                <a:latin typeface="DM Sans" pitchFamily="34" charset="0"/>
                <a:ea typeface="DM Sans" pitchFamily="34" charset="-122"/>
                <a:cs typeface="DM Sans" pitchFamily="34" charset="-120"/>
              </a:rPr>
              <a:t> of the predictions.</a:t>
            </a:r>
            <a:endParaRPr lang="en-US" sz="1550" dirty="0"/>
          </a:p>
        </p:txBody>
      </p:sp>
      <p:sp>
        <p:nvSpPr>
          <p:cNvPr id="15" name="Shape 13"/>
          <p:cNvSpPr/>
          <p:nvPr/>
        </p:nvSpPr>
        <p:spPr>
          <a:xfrm>
            <a:off x="7415213" y="5364361"/>
            <a:ext cx="6514624" cy="2128957"/>
          </a:xfrm>
          <a:prstGeom prst="roundRect">
            <a:avLst>
              <a:gd name="adj" fmla="val 22567"/>
            </a:avLst>
          </a:prstGeom>
          <a:solidFill>
            <a:srgbClr val="F7EDD4"/>
          </a:solidFill>
          <a:ln w="7620">
            <a:solidFill>
              <a:srgbClr val="DDD3BA"/>
            </a:solidFill>
            <a:prstDash val="solid"/>
          </a:ln>
        </p:spPr>
        <p:txBody>
          <a:bodyPr/>
          <a:lstStyle/>
          <a:p>
            <a:endParaRPr lang="en-IN"/>
          </a:p>
        </p:txBody>
      </p:sp>
      <p:sp>
        <p:nvSpPr>
          <p:cNvPr id="16" name="Text 14"/>
          <p:cNvSpPr/>
          <p:nvPr/>
        </p:nvSpPr>
        <p:spPr>
          <a:xfrm>
            <a:off x="7622977" y="5572125"/>
            <a:ext cx="2809280" cy="312777"/>
          </a:xfrm>
          <a:prstGeom prst="rect">
            <a:avLst/>
          </a:prstGeom>
          <a:noFill/>
          <a:ln/>
        </p:spPr>
        <p:txBody>
          <a:bodyPr wrap="none" lIns="0" tIns="0" rIns="0" bIns="0" rtlCol="0" anchor="t"/>
          <a:lstStyle/>
          <a:p>
            <a:pPr marL="0" indent="0" algn="l">
              <a:lnSpc>
                <a:spcPts val="2450"/>
              </a:lnSpc>
              <a:buNone/>
            </a:pPr>
            <a:r>
              <a:rPr lang="en-US" sz="1950" dirty="0">
                <a:solidFill>
                  <a:srgbClr val="454240"/>
                </a:solidFill>
                <a:latin typeface="Libre Baskerville" pitchFamily="34" charset="0"/>
                <a:ea typeface="Libre Baskerville" pitchFamily="34" charset="-122"/>
                <a:cs typeface="Libre Baskerville" pitchFamily="34" charset="-120"/>
              </a:rPr>
              <a:t>PCA for Optimization</a:t>
            </a:r>
            <a:endParaRPr lang="en-US" sz="1950" dirty="0"/>
          </a:p>
        </p:txBody>
      </p:sp>
      <p:sp>
        <p:nvSpPr>
          <p:cNvPr id="17" name="Text 15"/>
          <p:cNvSpPr/>
          <p:nvPr/>
        </p:nvSpPr>
        <p:spPr>
          <a:xfrm>
            <a:off x="7622977" y="6004917"/>
            <a:ext cx="6099096" cy="1280636"/>
          </a:xfrm>
          <a:prstGeom prst="rect">
            <a:avLst/>
          </a:prstGeom>
          <a:noFill/>
          <a:ln/>
        </p:spPr>
        <p:txBody>
          <a:bodyPr wrap="square" lIns="0" tIns="0" rIns="0" bIns="0" rtlCol="0" anchor="t"/>
          <a:lstStyle/>
          <a:p>
            <a:pPr marL="0" indent="0" algn="l">
              <a:lnSpc>
                <a:spcPts val="2500"/>
              </a:lnSpc>
              <a:buNone/>
            </a:pPr>
            <a:r>
              <a:rPr lang="en-US" sz="1550" dirty="0">
                <a:solidFill>
                  <a:srgbClr val="454240"/>
                </a:solidFill>
                <a:latin typeface="DM Sans" pitchFamily="34" charset="0"/>
                <a:ea typeface="DM Sans" pitchFamily="34" charset="-122"/>
                <a:cs typeface="DM Sans" pitchFamily="34" charset="-120"/>
              </a:rPr>
              <a:t>Principal Component Analysis (PCA) successfully reduced feature dimensionality, which not only streamlined model training but also effectively mitigated the risk of overfitting, leading to more generalizable models.</a:t>
            </a:r>
            <a:endParaRPr lang="en-US" sz="1550" dirty="0"/>
          </a:p>
        </p:txBody>
      </p:sp>
      <p:sp>
        <p:nvSpPr>
          <p:cNvPr id="18" name="Rectangle 17">
            <a:extLst>
              <a:ext uri="{FF2B5EF4-FFF2-40B4-BE49-F238E27FC236}">
                <a16:creationId xmlns:a16="http://schemas.microsoft.com/office/drawing/2014/main" id="{2893B6E6-32DD-56A9-4523-AC849CE5ECC4}"/>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1377" y="983575"/>
            <a:ext cx="11787545" cy="483394"/>
          </a:xfrm>
          <a:prstGeom prst="rect">
            <a:avLst/>
          </a:prstGeom>
          <a:noFill/>
          <a:ln/>
        </p:spPr>
        <p:txBody>
          <a:bodyPr wrap="none" lIns="0" tIns="0" rIns="0" bIns="0" rtlCol="0" anchor="t"/>
          <a:lstStyle/>
          <a:p>
            <a:pPr marL="0" indent="0" algn="l">
              <a:lnSpc>
                <a:spcPts val="3800"/>
              </a:lnSpc>
              <a:buNone/>
            </a:pPr>
            <a:r>
              <a:rPr lang="en-US" sz="3000" dirty="0">
                <a:solidFill>
                  <a:srgbClr val="5C4E3D"/>
                </a:solidFill>
                <a:latin typeface="Libre Baskerville" pitchFamily="34" charset="0"/>
                <a:ea typeface="Libre Baskerville" pitchFamily="34" charset="-122"/>
                <a:cs typeface="Libre Baskerville" pitchFamily="34" charset="-120"/>
              </a:rPr>
              <a:t>Tangible Outcomes: Achievements &amp; Deployment Potential</a:t>
            </a:r>
            <a:endParaRPr lang="en-US" sz="3000" dirty="0"/>
          </a:p>
        </p:txBody>
      </p:sp>
      <p:sp>
        <p:nvSpPr>
          <p:cNvPr id="3" name="Shape 1"/>
          <p:cNvSpPr/>
          <p:nvPr/>
        </p:nvSpPr>
        <p:spPr>
          <a:xfrm>
            <a:off x="696039" y="2008227"/>
            <a:ext cx="154662" cy="696039"/>
          </a:xfrm>
          <a:prstGeom prst="roundRect">
            <a:avLst>
              <a:gd name="adj" fmla="val 42007"/>
            </a:avLst>
          </a:prstGeom>
          <a:solidFill>
            <a:srgbClr val="F7EDD4"/>
          </a:solidFill>
          <a:ln w="7620">
            <a:solidFill>
              <a:srgbClr val="DDD3BA"/>
            </a:solidFill>
            <a:prstDash val="solid"/>
          </a:ln>
        </p:spPr>
        <p:txBody>
          <a:bodyPr/>
          <a:lstStyle/>
          <a:p>
            <a:endParaRPr lang="en-IN"/>
          </a:p>
        </p:txBody>
      </p:sp>
      <p:sp>
        <p:nvSpPr>
          <p:cNvPr id="4" name="Shape 2"/>
          <p:cNvSpPr/>
          <p:nvPr/>
        </p:nvSpPr>
        <p:spPr>
          <a:xfrm>
            <a:off x="541377" y="1906786"/>
            <a:ext cx="463987" cy="463987"/>
          </a:xfrm>
          <a:prstGeom prst="roundRect">
            <a:avLst>
              <a:gd name="adj" fmla="val 98537"/>
            </a:avLst>
          </a:prstGeom>
          <a:solidFill>
            <a:srgbClr val="F7EDD4"/>
          </a:solidFill>
          <a:ln w="7620">
            <a:solidFill>
              <a:srgbClr val="DDD3BA"/>
            </a:solidFill>
            <a:prstDash val="solid"/>
          </a:ln>
        </p:spPr>
        <p:txBody>
          <a:bodyPr/>
          <a:lstStyle/>
          <a:p>
            <a:endParaRPr lang="en-IN"/>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7344" y="2022872"/>
            <a:ext cx="231934" cy="231934"/>
          </a:xfrm>
          <a:prstGeom prst="rect">
            <a:avLst/>
          </a:prstGeom>
        </p:spPr>
      </p:pic>
      <p:sp>
        <p:nvSpPr>
          <p:cNvPr id="6" name="Text 3"/>
          <p:cNvSpPr/>
          <p:nvPr/>
        </p:nvSpPr>
        <p:spPr>
          <a:xfrm>
            <a:off x="1160026" y="1930956"/>
            <a:ext cx="2453402" cy="241697"/>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End-to-End ML Pipeline</a:t>
            </a:r>
            <a:endParaRPr lang="en-US" sz="1500" dirty="0"/>
          </a:p>
        </p:txBody>
      </p:sp>
      <p:sp>
        <p:nvSpPr>
          <p:cNvPr id="7" name="Text 4"/>
          <p:cNvSpPr/>
          <p:nvPr/>
        </p:nvSpPr>
        <p:spPr>
          <a:xfrm>
            <a:off x="1160026" y="2265402"/>
            <a:ext cx="12928997" cy="247412"/>
          </a:xfrm>
          <a:prstGeom prst="rect">
            <a:avLst/>
          </a:prstGeom>
          <a:noFill/>
          <a:ln/>
        </p:spPr>
        <p:txBody>
          <a:bodyPr wrap="none" lIns="0" tIns="0" rIns="0" bIns="0" rtlCol="0" anchor="t"/>
          <a:lstStyle/>
          <a:p>
            <a:pPr marL="0" indent="0" algn="l">
              <a:lnSpc>
                <a:spcPts val="1900"/>
              </a:lnSpc>
              <a:buNone/>
            </a:pPr>
            <a:r>
              <a:rPr lang="en-US" sz="1200" dirty="0">
                <a:solidFill>
                  <a:srgbClr val="454240"/>
                </a:solidFill>
                <a:latin typeface="DM Sans" pitchFamily="34" charset="0"/>
                <a:ea typeface="DM Sans" pitchFamily="34" charset="-122"/>
                <a:cs typeface="DM Sans" pitchFamily="34" charset="-120"/>
              </a:rPr>
              <a:t>Successfully constructed a complete machine learning pipeline, from data ingestion and feature extraction to model training and prediction, ready for operational use.</a:t>
            </a:r>
            <a:endParaRPr lang="en-US" sz="1200" dirty="0"/>
          </a:p>
        </p:txBody>
      </p:sp>
      <p:sp>
        <p:nvSpPr>
          <p:cNvPr id="8" name="Shape 5"/>
          <p:cNvSpPr/>
          <p:nvPr/>
        </p:nvSpPr>
        <p:spPr>
          <a:xfrm>
            <a:off x="927973" y="3090982"/>
            <a:ext cx="154662" cy="696039"/>
          </a:xfrm>
          <a:prstGeom prst="roundRect">
            <a:avLst>
              <a:gd name="adj" fmla="val 42007"/>
            </a:avLst>
          </a:prstGeom>
          <a:solidFill>
            <a:srgbClr val="F7EDD4"/>
          </a:solidFill>
          <a:ln w="7620">
            <a:solidFill>
              <a:srgbClr val="DDD3BA"/>
            </a:solidFill>
            <a:prstDash val="solid"/>
          </a:ln>
        </p:spPr>
        <p:txBody>
          <a:bodyPr/>
          <a:lstStyle/>
          <a:p>
            <a:endParaRPr lang="en-IN"/>
          </a:p>
        </p:txBody>
      </p:sp>
      <p:sp>
        <p:nvSpPr>
          <p:cNvPr id="9" name="Shape 6"/>
          <p:cNvSpPr/>
          <p:nvPr/>
        </p:nvSpPr>
        <p:spPr>
          <a:xfrm>
            <a:off x="773311" y="2989540"/>
            <a:ext cx="463987" cy="463987"/>
          </a:xfrm>
          <a:prstGeom prst="roundRect">
            <a:avLst>
              <a:gd name="adj" fmla="val 98537"/>
            </a:avLst>
          </a:prstGeom>
          <a:solidFill>
            <a:srgbClr val="F7EDD4"/>
          </a:solidFill>
          <a:ln w="7620">
            <a:solidFill>
              <a:srgbClr val="DDD3BA"/>
            </a:solidFill>
            <a:prstDash val="solid"/>
          </a:ln>
        </p:spPr>
        <p:txBody>
          <a:bodyPr/>
          <a:lstStyle/>
          <a:p>
            <a:endParaRPr lang="en-IN"/>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9278" y="3105626"/>
            <a:ext cx="231934" cy="231934"/>
          </a:xfrm>
          <a:prstGeom prst="rect">
            <a:avLst/>
          </a:prstGeom>
        </p:spPr>
      </p:pic>
      <p:sp>
        <p:nvSpPr>
          <p:cNvPr id="11" name="Text 7"/>
          <p:cNvSpPr/>
          <p:nvPr/>
        </p:nvSpPr>
        <p:spPr>
          <a:xfrm>
            <a:off x="1391960" y="3013710"/>
            <a:ext cx="4436745" cy="241697"/>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Validated Speech as Non-Invasive Biomarker</a:t>
            </a:r>
            <a:endParaRPr lang="en-US" sz="1500" dirty="0"/>
          </a:p>
        </p:txBody>
      </p:sp>
      <p:sp>
        <p:nvSpPr>
          <p:cNvPr id="12" name="Text 8"/>
          <p:cNvSpPr/>
          <p:nvPr/>
        </p:nvSpPr>
        <p:spPr>
          <a:xfrm>
            <a:off x="1391960" y="3348157"/>
            <a:ext cx="12697063" cy="247412"/>
          </a:xfrm>
          <a:prstGeom prst="rect">
            <a:avLst/>
          </a:prstGeom>
          <a:noFill/>
          <a:ln/>
        </p:spPr>
        <p:txBody>
          <a:bodyPr wrap="none" lIns="0" tIns="0" rIns="0" bIns="0" rtlCol="0" anchor="t"/>
          <a:lstStyle/>
          <a:p>
            <a:pPr marL="0" indent="0" algn="l">
              <a:lnSpc>
                <a:spcPts val="1900"/>
              </a:lnSpc>
              <a:buNone/>
            </a:pPr>
            <a:r>
              <a:rPr lang="en-US" sz="1200" dirty="0">
                <a:solidFill>
                  <a:srgbClr val="454240"/>
                </a:solidFill>
                <a:latin typeface="DM Sans" pitchFamily="34" charset="0"/>
                <a:ea typeface="DM Sans" pitchFamily="34" charset="-122"/>
                <a:cs typeface="DM Sans" pitchFamily="34" charset="-120"/>
              </a:rPr>
              <a:t>Empirically validated the efficacy of speech characteristics as a non-invasive biomarker for the early detection of Parkinson's Disease, supporting its clinical utility.</a:t>
            </a:r>
            <a:endParaRPr lang="en-US" sz="1200" dirty="0"/>
          </a:p>
        </p:txBody>
      </p:sp>
      <p:sp>
        <p:nvSpPr>
          <p:cNvPr id="13" name="Shape 9"/>
          <p:cNvSpPr/>
          <p:nvPr/>
        </p:nvSpPr>
        <p:spPr>
          <a:xfrm>
            <a:off x="1160026" y="4173736"/>
            <a:ext cx="154662" cy="906542"/>
          </a:xfrm>
          <a:prstGeom prst="roundRect">
            <a:avLst>
              <a:gd name="adj" fmla="val 42007"/>
            </a:avLst>
          </a:prstGeom>
          <a:solidFill>
            <a:srgbClr val="F7EDD4"/>
          </a:solidFill>
          <a:ln w="7620">
            <a:solidFill>
              <a:srgbClr val="DDD3BA"/>
            </a:solidFill>
            <a:prstDash val="solid"/>
          </a:ln>
        </p:spPr>
        <p:txBody>
          <a:bodyPr/>
          <a:lstStyle/>
          <a:p>
            <a:endParaRPr lang="en-IN"/>
          </a:p>
        </p:txBody>
      </p:sp>
      <p:sp>
        <p:nvSpPr>
          <p:cNvPr id="14" name="Shape 10"/>
          <p:cNvSpPr/>
          <p:nvPr/>
        </p:nvSpPr>
        <p:spPr>
          <a:xfrm>
            <a:off x="1005364" y="4072295"/>
            <a:ext cx="463987" cy="463987"/>
          </a:xfrm>
          <a:prstGeom prst="roundRect">
            <a:avLst>
              <a:gd name="adj" fmla="val 98537"/>
            </a:avLst>
          </a:prstGeom>
          <a:solidFill>
            <a:srgbClr val="F7EDD4"/>
          </a:solidFill>
          <a:ln w="7620">
            <a:solidFill>
              <a:srgbClr val="DDD3BA"/>
            </a:solidFill>
            <a:prstDash val="solid"/>
          </a:ln>
        </p:spPr>
        <p:txBody>
          <a:bodyPr/>
          <a:lstStyle/>
          <a:p>
            <a:endParaRPr lang="en-IN"/>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1331" y="4188381"/>
            <a:ext cx="231934" cy="231934"/>
          </a:xfrm>
          <a:prstGeom prst="rect">
            <a:avLst/>
          </a:prstGeom>
        </p:spPr>
      </p:pic>
      <p:sp>
        <p:nvSpPr>
          <p:cNvPr id="16" name="Text 11"/>
          <p:cNvSpPr/>
          <p:nvPr/>
        </p:nvSpPr>
        <p:spPr>
          <a:xfrm>
            <a:off x="1624012" y="4096464"/>
            <a:ext cx="2840474" cy="241697"/>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Comparative Model Analysis</a:t>
            </a:r>
            <a:endParaRPr lang="en-US" sz="1500" dirty="0"/>
          </a:p>
        </p:txBody>
      </p:sp>
      <p:sp>
        <p:nvSpPr>
          <p:cNvPr id="17" name="Text 12"/>
          <p:cNvSpPr/>
          <p:nvPr/>
        </p:nvSpPr>
        <p:spPr>
          <a:xfrm>
            <a:off x="1624012" y="4430911"/>
            <a:ext cx="12465010" cy="494824"/>
          </a:xfrm>
          <a:prstGeom prst="rect">
            <a:avLst/>
          </a:prstGeom>
          <a:noFill/>
          <a:ln/>
        </p:spPr>
        <p:txBody>
          <a:bodyPr wrap="square" lIns="0" tIns="0" rIns="0" bIns="0" rtlCol="0" anchor="t"/>
          <a:lstStyle/>
          <a:p>
            <a:pPr marL="0" indent="0" algn="l">
              <a:lnSpc>
                <a:spcPts val="1900"/>
              </a:lnSpc>
              <a:buNone/>
            </a:pPr>
            <a:r>
              <a:rPr lang="en-US" sz="1200" dirty="0">
                <a:solidFill>
                  <a:srgbClr val="454240"/>
                </a:solidFill>
                <a:latin typeface="DM Sans" pitchFamily="34" charset="0"/>
                <a:ea typeface="DM Sans" pitchFamily="34" charset="-122"/>
                <a:cs typeface="DM Sans" pitchFamily="34" charset="-120"/>
              </a:rPr>
              <a:t>Performed a rigorous comparison between classical machine learning and deep learning models, providing insights into their respective strengths and weaknesses in this application.</a:t>
            </a:r>
            <a:endParaRPr lang="en-US" sz="1200" dirty="0"/>
          </a:p>
        </p:txBody>
      </p:sp>
      <p:sp>
        <p:nvSpPr>
          <p:cNvPr id="18" name="Shape 13"/>
          <p:cNvSpPr/>
          <p:nvPr/>
        </p:nvSpPr>
        <p:spPr>
          <a:xfrm>
            <a:off x="1392079" y="5466993"/>
            <a:ext cx="154662" cy="696039"/>
          </a:xfrm>
          <a:prstGeom prst="roundRect">
            <a:avLst>
              <a:gd name="adj" fmla="val 42007"/>
            </a:avLst>
          </a:prstGeom>
          <a:solidFill>
            <a:srgbClr val="F7EDD4"/>
          </a:solidFill>
          <a:ln w="7620">
            <a:solidFill>
              <a:srgbClr val="DDD3BA"/>
            </a:solidFill>
            <a:prstDash val="solid"/>
          </a:ln>
        </p:spPr>
        <p:txBody>
          <a:bodyPr/>
          <a:lstStyle/>
          <a:p>
            <a:endParaRPr lang="en-IN"/>
          </a:p>
        </p:txBody>
      </p:sp>
      <p:sp>
        <p:nvSpPr>
          <p:cNvPr id="19" name="Shape 14"/>
          <p:cNvSpPr/>
          <p:nvPr/>
        </p:nvSpPr>
        <p:spPr>
          <a:xfrm>
            <a:off x="1237417" y="5365552"/>
            <a:ext cx="463987" cy="463987"/>
          </a:xfrm>
          <a:prstGeom prst="roundRect">
            <a:avLst>
              <a:gd name="adj" fmla="val 98537"/>
            </a:avLst>
          </a:prstGeom>
          <a:solidFill>
            <a:srgbClr val="F7EDD4"/>
          </a:solidFill>
          <a:ln w="7620">
            <a:solidFill>
              <a:srgbClr val="DDD3BA"/>
            </a:solidFill>
            <a:prstDash val="solid"/>
          </a:ln>
        </p:spPr>
        <p:txBody>
          <a:bodyPr/>
          <a:lstStyle/>
          <a:p>
            <a:endParaRPr lang="en-IN"/>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3383" y="5481638"/>
            <a:ext cx="231934" cy="231934"/>
          </a:xfrm>
          <a:prstGeom prst="rect">
            <a:avLst/>
          </a:prstGeom>
        </p:spPr>
      </p:pic>
      <p:sp>
        <p:nvSpPr>
          <p:cNvPr id="21" name="Text 15"/>
          <p:cNvSpPr/>
          <p:nvPr/>
        </p:nvSpPr>
        <p:spPr>
          <a:xfrm>
            <a:off x="1856065" y="5389721"/>
            <a:ext cx="2899410" cy="241697"/>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Proposed Hybrid Framework</a:t>
            </a:r>
            <a:endParaRPr lang="en-US" sz="1500" dirty="0"/>
          </a:p>
        </p:txBody>
      </p:sp>
      <p:sp>
        <p:nvSpPr>
          <p:cNvPr id="22" name="Text 16"/>
          <p:cNvSpPr/>
          <p:nvPr/>
        </p:nvSpPr>
        <p:spPr>
          <a:xfrm>
            <a:off x="1856065" y="5724168"/>
            <a:ext cx="12232958" cy="247412"/>
          </a:xfrm>
          <a:prstGeom prst="rect">
            <a:avLst/>
          </a:prstGeom>
          <a:noFill/>
          <a:ln/>
        </p:spPr>
        <p:txBody>
          <a:bodyPr wrap="none" lIns="0" tIns="0" rIns="0" bIns="0" rtlCol="0" anchor="t"/>
          <a:lstStyle/>
          <a:p>
            <a:pPr marL="0" indent="0" algn="l">
              <a:lnSpc>
                <a:spcPts val="1900"/>
              </a:lnSpc>
              <a:buNone/>
            </a:pPr>
            <a:r>
              <a:rPr lang="en-US" sz="1200" dirty="0">
                <a:solidFill>
                  <a:srgbClr val="454240"/>
                </a:solidFill>
                <a:latin typeface="DM Sans" pitchFamily="34" charset="0"/>
                <a:ea typeface="DM Sans" pitchFamily="34" charset="-122"/>
                <a:cs typeface="DM Sans" pitchFamily="34" charset="-120"/>
              </a:rPr>
              <a:t>Introduced and demonstrated the effectiveness of a novel hybrid feature-based framework, which combines the best of both traditional and deep learning approaches.</a:t>
            </a:r>
            <a:endParaRPr lang="en-US" sz="1200" dirty="0"/>
          </a:p>
        </p:txBody>
      </p:sp>
      <p:sp>
        <p:nvSpPr>
          <p:cNvPr id="23" name="Shape 17"/>
          <p:cNvSpPr/>
          <p:nvPr/>
        </p:nvSpPr>
        <p:spPr>
          <a:xfrm>
            <a:off x="1160026" y="6549747"/>
            <a:ext cx="154662" cy="696039"/>
          </a:xfrm>
          <a:prstGeom prst="roundRect">
            <a:avLst>
              <a:gd name="adj" fmla="val 42007"/>
            </a:avLst>
          </a:prstGeom>
          <a:solidFill>
            <a:srgbClr val="F7EDD4"/>
          </a:solidFill>
          <a:ln w="7620">
            <a:solidFill>
              <a:srgbClr val="DDD3BA"/>
            </a:solidFill>
            <a:prstDash val="solid"/>
          </a:ln>
        </p:spPr>
        <p:txBody>
          <a:bodyPr/>
          <a:lstStyle/>
          <a:p>
            <a:endParaRPr lang="en-IN"/>
          </a:p>
        </p:txBody>
      </p:sp>
      <p:sp>
        <p:nvSpPr>
          <p:cNvPr id="24" name="Shape 18"/>
          <p:cNvSpPr/>
          <p:nvPr/>
        </p:nvSpPr>
        <p:spPr>
          <a:xfrm>
            <a:off x="1005364" y="6448306"/>
            <a:ext cx="463987" cy="463987"/>
          </a:xfrm>
          <a:prstGeom prst="roundRect">
            <a:avLst>
              <a:gd name="adj" fmla="val 98537"/>
            </a:avLst>
          </a:prstGeom>
          <a:solidFill>
            <a:srgbClr val="F7EDD4"/>
          </a:solidFill>
          <a:ln w="7620">
            <a:solidFill>
              <a:srgbClr val="DDD3BA"/>
            </a:solidFill>
            <a:prstDash val="solid"/>
          </a:ln>
        </p:spPr>
        <p:txBody>
          <a:bodyPr/>
          <a:lstStyle/>
          <a:p>
            <a:endParaRPr lang="en-IN"/>
          </a:p>
        </p:txBody>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1331" y="6564392"/>
            <a:ext cx="231934" cy="231934"/>
          </a:xfrm>
          <a:prstGeom prst="rect">
            <a:avLst/>
          </a:prstGeom>
        </p:spPr>
      </p:pic>
      <p:sp>
        <p:nvSpPr>
          <p:cNvPr id="26" name="Text 19"/>
          <p:cNvSpPr/>
          <p:nvPr/>
        </p:nvSpPr>
        <p:spPr>
          <a:xfrm>
            <a:off x="1624012" y="6472476"/>
            <a:ext cx="2627709" cy="241697"/>
          </a:xfrm>
          <a:prstGeom prst="rect">
            <a:avLst/>
          </a:prstGeom>
          <a:noFill/>
          <a:ln/>
        </p:spPr>
        <p:txBody>
          <a:bodyPr wrap="none" lIns="0" tIns="0" rIns="0" bIns="0" rtlCol="0" anchor="t"/>
          <a:lstStyle/>
          <a:p>
            <a:pPr marL="0" indent="0" algn="l">
              <a:lnSpc>
                <a:spcPts val="1900"/>
              </a:lnSpc>
              <a:buNone/>
            </a:pPr>
            <a:r>
              <a:rPr lang="en-US" sz="1500" dirty="0">
                <a:solidFill>
                  <a:srgbClr val="454240"/>
                </a:solidFill>
                <a:latin typeface="Libre Baskerville" pitchFamily="34" charset="0"/>
                <a:ea typeface="Libre Baskerville" pitchFamily="34" charset="-122"/>
                <a:cs typeface="Libre Baskerville" pitchFamily="34" charset="-120"/>
              </a:rPr>
              <a:t>Streamlit-Based Prototype</a:t>
            </a:r>
            <a:endParaRPr lang="en-US" sz="1500" dirty="0"/>
          </a:p>
        </p:txBody>
      </p:sp>
      <p:sp>
        <p:nvSpPr>
          <p:cNvPr id="27" name="Text 20"/>
          <p:cNvSpPr/>
          <p:nvPr/>
        </p:nvSpPr>
        <p:spPr>
          <a:xfrm>
            <a:off x="1624012" y="6806922"/>
            <a:ext cx="12465010" cy="247412"/>
          </a:xfrm>
          <a:prstGeom prst="rect">
            <a:avLst/>
          </a:prstGeom>
          <a:noFill/>
          <a:ln/>
        </p:spPr>
        <p:txBody>
          <a:bodyPr wrap="none" lIns="0" tIns="0" rIns="0" bIns="0" rtlCol="0" anchor="t"/>
          <a:lstStyle/>
          <a:p>
            <a:pPr marL="0" indent="0" algn="l">
              <a:lnSpc>
                <a:spcPts val="1900"/>
              </a:lnSpc>
              <a:buNone/>
            </a:pPr>
            <a:r>
              <a:rPr lang="en-US" sz="1200" dirty="0">
                <a:solidFill>
                  <a:srgbClr val="454240"/>
                </a:solidFill>
                <a:latin typeface="DM Sans" pitchFamily="34" charset="0"/>
                <a:ea typeface="DM Sans" pitchFamily="34" charset="-122"/>
                <a:cs typeface="DM Sans" pitchFamily="34" charset="-120"/>
              </a:rPr>
              <a:t>Developed a functional and user-friendly prototype using Streamlit, showcasing the model's capabilities in a practical, interactive interface.</a:t>
            </a:r>
            <a:endParaRPr lang="en-US" sz="1200" dirty="0"/>
          </a:p>
        </p:txBody>
      </p:sp>
      <p:sp>
        <p:nvSpPr>
          <p:cNvPr id="28" name="Rectangle 27">
            <a:extLst>
              <a:ext uri="{FF2B5EF4-FFF2-40B4-BE49-F238E27FC236}">
                <a16:creationId xmlns:a16="http://schemas.microsoft.com/office/drawing/2014/main" id="{4ACA6CD0-3508-B535-CA68-F21E9E73315B}"/>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81501" y="717113"/>
            <a:ext cx="13420606" cy="519232"/>
          </a:xfrm>
          <a:prstGeom prst="rect">
            <a:avLst/>
          </a:prstGeom>
          <a:noFill/>
          <a:ln/>
        </p:spPr>
        <p:txBody>
          <a:bodyPr wrap="none" lIns="0" tIns="0" rIns="0" bIns="0" rtlCol="0" anchor="t"/>
          <a:lstStyle/>
          <a:p>
            <a:pPr marL="0" indent="0" algn="l">
              <a:lnSpc>
                <a:spcPts val="4050"/>
              </a:lnSpc>
              <a:buNone/>
            </a:pPr>
            <a:r>
              <a:rPr lang="en-US" sz="3250" dirty="0">
                <a:solidFill>
                  <a:srgbClr val="5C4E3D"/>
                </a:solidFill>
                <a:latin typeface="Libre Baskerville" pitchFamily="34" charset="0"/>
                <a:ea typeface="Libre Baskerville" pitchFamily="34" charset="-122"/>
                <a:cs typeface="Libre Baskerville" pitchFamily="34" charset="-120"/>
              </a:rPr>
              <a:t>Charting the Future: Limitations, Future Work, and Conclusion</a:t>
            </a:r>
            <a:endParaRPr lang="en-US" sz="3250" dirty="0"/>
          </a:p>
        </p:txBody>
      </p:sp>
      <p:sp>
        <p:nvSpPr>
          <p:cNvPr id="3" name="Shape 1"/>
          <p:cNvSpPr/>
          <p:nvPr/>
        </p:nvSpPr>
        <p:spPr>
          <a:xfrm>
            <a:off x="581501" y="1568529"/>
            <a:ext cx="664488" cy="1928693"/>
          </a:xfrm>
          <a:prstGeom prst="roundRect">
            <a:avLst>
              <a:gd name="adj" fmla="val 360049"/>
            </a:avLst>
          </a:prstGeom>
          <a:solidFill>
            <a:srgbClr val="F7EDD4"/>
          </a:solidFill>
          <a:ln w="7620">
            <a:solidFill>
              <a:srgbClr val="DDD3BA"/>
            </a:solidFill>
            <a:prstDash val="solid"/>
          </a:ln>
        </p:spPr>
        <p:txBody>
          <a:bodyPr/>
          <a:lstStyle/>
          <a:p>
            <a:endParaRPr lang="en-IN"/>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9146" y="2408158"/>
            <a:ext cx="249198" cy="249198"/>
          </a:xfrm>
          <a:prstGeom prst="rect">
            <a:avLst/>
          </a:prstGeom>
        </p:spPr>
      </p:pic>
      <p:sp>
        <p:nvSpPr>
          <p:cNvPr id="5" name="Text 2"/>
          <p:cNvSpPr/>
          <p:nvPr/>
        </p:nvSpPr>
        <p:spPr>
          <a:xfrm>
            <a:off x="1412081" y="1734622"/>
            <a:ext cx="2133005" cy="259556"/>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Libre Baskerville" pitchFamily="34" charset="0"/>
                <a:ea typeface="Libre Baskerville" pitchFamily="34" charset="-122"/>
                <a:cs typeface="Libre Baskerville" pitchFamily="34" charset="-120"/>
              </a:rPr>
              <a:t>Current Limitations</a:t>
            </a:r>
            <a:endParaRPr lang="en-US" sz="1600" dirty="0"/>
          </a:p>
        </p:txBody>
      </p:sp>
      <p:sp>
        <p:nvSpPr>
          <p:cNvPr id="6" name="Text 3"/>
          <p:cNvSpPr/>
          <p:nvPr/>
        </p:nvSpPr>
        <p:spPr>
          <a:xfrm>
            <a:off x="1412081" y="2093833"/>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Reliance on a </a:t>
            </a:r>
            <a:r>
              <a:rPr lang="en-US" sz="1300" b="1" dirty="0">
                <a:solidFill>
                  <a:srgbClr val="454240"/>
                </a:solidFill>
                <a:latin typeface="DM Sans" pitchFamily="34" charset="0"/>
                <a:ea typeface="DM Sans" pitchFamily="34" charset="-122"/>
                <a:cs typeface="DM Sans" pitchFamily="34" charset="-120"/>
              </a:rPr>
              <a:t>relatively small dataset</a:t>
            </a:r>
            <a:r>
              <a:rPr lang="en-US" sz="1300" dirty="0">
                <a:solidFill>
                  <a:srgbClr val="454240"/>
                </a:solidFill>
                <a:latin typeface="DM Sans" pitchFamily="34" charset="0"/>
                <a:ea typeface="DM Sans" pitchFamily="34" charset="-122"/>
                <a:cs typeface="DM Sans" pitchFamily="34" charset="-120"/>
              </a:rPr>
              <a:t>, potentially limiting generalizability.</a:t>
            </a:r>
            <a:endParaRPr lang="en-US" sz="1300" dirty="0"/>
          </a:p>
        </p:txBody>
      </p:sp>
      <p:sp>
        <p:nvSpPr>
          <p:cNvPr id="7" name="Text 4"/>
          <p:cNvSpPr/>
          <p:nvPr/>
        </p:nvSpPr>
        <p:spPr>
          <a:xfrm>
            <a:off x="1412081" y="2417683"/>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Lack of </a:t>
            </a:r>
            <a:r>
              <a:rPr lang="en-US" sz="1300" b="1" dirty="0">
                <a:solidFill>
                  <a:srgbClr val="454240"/>
                </a:solidFill>
                <a:latin typeface="DM Sans" pitchFamily="34" charset="0"/>
                <a:ea typeface="DM Sans" pitchFamily="34" charset="-122"/>
                <a:cs typeface="DM Sans" pitchFamily="34" charset="-120"/>
              </a:rPr>
              <a:t>clinical validation</a:t>
            </a:r>
            <a:r>
              <a:rPr lang="en-US" sz="1300" dirty="0">
                <a:solidFill>
                  <a:srgbClr val="454240"/>
                </a:solidFill>
                <a:latin typeface="DM Sans" pitchFamily="34" charset="0"/>
                <a:ea typeface="DM Sans" pitchFamily="34" charset="-122"/>
                <a:cs typeface="DM Sans" pitchFamily="34" charset="-120"/>
              </a:rPr>
              <a:t> with real-world patient cohorts.</a:t>
            </a:r>
            <a:endParaRPr lang="en-US" sz="1300" dirty="0"/>
          </a:p>
        </p:txBody>
      </p:sp>
      <p:sp>
        <p:nvSpPr>
          <p:cNvPr id="8" name="Text 5"/>
          <p:cNvSpPr/>
          <p:nvPr/>
        </p:nvSpPr>
        <p:spPr>
          <a:xfrm>
            <a:off x="1412081" y="2741533"/>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Challenges posed by </a:t>
            </a:r>
            <a:r>
              <a:rPr lang="en-US" sz="1300" b="1" dirty="0">
                <a:solidFill>
                  <a:srgbClr val="454240"/>
                </a:solidFill>
                <a:latin typeface="DM Sans" pitchFamily="34" charset="0"/>
                <a:ea typeface="DM Sans" pitchFamily="34" charset="-122"/>
                <a:cs typeface="DM Sans" pitchFamily="34" charset="-120"/>
              </a:rPr>
              <a:t>class imbalance</a:t>
            </a:r>
            <a:r>
              <a:rPr lang="en-US" sz="1300" dirty="0">
                <a:solidFill>
                  <a:srgbClr val="454240"/>
                </a:solidFill>
                <a:latin typeface="DM Sans" pitchFamily="34" charset="0"/>
                <a:ea typeface="DM Sans" pitchFamily="34" charset="-122"/>
                <a:cs typeface="DM Sans" pitchFamily="34" charset="-120"/>
              </a:rPr>
              <a:t> in existing datasets.</a:t>
            </a:r>
            <a:endParaRPr lang="en-US" sz="1300" dirty="0"/>
          </a:p>
        </p:txBody>
      </p:sp>
      <p:sp>
        <p:nvSpPr>
          <p:cNvPr id="9" name="Text 6"/>
          <p:cNvSpPr/>
          <p:nvPr/>
        </p:nvSpPr>
        <p:spPr>
          <a:xfrm>
            <a:off x="1412081" y="3065383"/>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WavLM model was used </a:t>
            </a:r>
            <a:r>
              <a:rPr lang="en-US" sz="1300" b="1" dirty="0">
                <a:solidFill>
                  <a:srgbClr val="454240"/>
                </a:solidFill>
                <a:latin typeface="DM Sans" pitchFamily="34" charset="0"/>
                <a:ea typeface="DM Sans" pitchFamily="34" charset="-122"/>
                <a:cs typeface="DM Sans" pitchFamily="34" charset="-120"/>
              </a:rPr>
              <a:t>without fine-tuning</a:t>
            </a:r>
            <a:r>
              <a:rPr lang="en-US" sz="1300" dirty="0">
                <a:solidFill>
                  <a:srgbClr val="454240"/>
                </a:solidFill>
                <a:latin typeface="DM Sans" pitchFamily="34" charset="0"/>
                <a:ea typeface="DM Sans" pitchFamily="34" charset="-122"/>
                <a:cs typeface="DM Sans" pitchFamily="34" charset="-120"/>
              </a:rPr>
              <a:t> for this specific task.</a:t>
            </a:r>
            <a:endParaRPr lang="en-US" sz="1300" dirty="0"/>
          </a:p>
        </p:txBody>
      </p:sp>
      <p:sp>
        <p:nvSpPr>
          <p:cNvPr id="10" name="Shape 7"/>
          <p:cNvSpPr/>
          <p:nvPr/>
        </p:nvSpPr>
        <p:spPr>
          <a:xfrm>
            <a:off x="581501" y="3663315"/>
            <a:ext cx="664488" cy="1928693"/>
          </a:xfrm>
          <a:prstGeom prst="roundRect">
            <a:avLst>
              <a:gd name="adj" fmla="val 360049"/>
            </a:avLst>
          </a:prstGeom>
          <a:solidFill>
            <a:srgbClr val="F7EDD4"/>
          </a:solidFill>
          <a:ln w="7620">
            <a:solidFill>
              <a:srgbClr val="DDD3BA"/>
            </a:solidFill>
            <a:prstDash val="solid"/>
          </a:ln>
        </p:spPr>
        <p:txBody>
          <a:bodyPr/>
          <a:lstStyle/>
          <a:p>
            <a:endParaRPr lang="en-IN"/>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146" y="4502944"/>
            <a:ext cx="249198" cy="249198"/>
          </a:xfrm>
          <a:prstGeom prst="rect">
            <a:avLst/>
          </a:prstGeom>
        </p:spPr>
      </p:pic>
      <p:sp>
        <p:nvSpPr>
          <p:cNvPr id="12" name="Text 8"/>
          <p:cNvSpPr/>
          <p:nvPr/>
        </p:nvSpPr>
        <p:spPr>
          <a:xfrm>
            <a:off x="1412081" y="3829407"/>
            <a:ext cx="2895005" cy="259556"/>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Libre Baskerville" pitchFamily="34" charset="0"/>
                <a:ea typeface="Libre Baskerville" pitchFamily="34" charset="-122"/>
                <a:cs typeface="Libre Baskerville" pitchFamily="34" charset="-120"/>
              </a:rPr>
              <a:t>Future Research Directions</a:t>
            </a:r>
            <a:endParaRPr lang="en-US" sz="1600" dirty="0"/>
          </a:p>
        </p:txBody>
      </p:sp>
      <p:sp>
        <p:nvSpPr>
          <p:cNvPr id="13" name="Text 9"/>
          <p:cNvSpPr/>
          <p:nvPr/>
        </p:nvSpPr>
        <p:spPr>
          <a:xfrm>
            <a:off x="1412081" y="4188619"/>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Acquire and leverage </a:t>
            </a:r>
            <a:r>
              <a:rPr lang="en-US" sz="1300" b="1" dirty="0">
                <a:solidFill>
                  <a:srgbClr val="454240"/>
                </a:solidFill>
                <a:latin typeface="DM Sans" pitchFamily="34" charset="0"/>
                <a:ea typeface="DM Sans" pitchFamily="34" charset="-122"/>
                <a:cs typeface="DM Sans" pitchFamily="34" charset="-120"/>
              </a:rPr>
              <a:t>larger, more diverse datasets</a:t>
            </a:r>
            <a:r>
              <a:rPr lang="en-US" sz="1300" dirty="0">
                <a:solidFill>
                  <a:srgbClr val="454240"/>
                </a:solidFill>
                <a:latin typeface="DM Sans" pitchFamily="34" charset="0"/>
                <a:ea typeface="DM Sans" pitchFamily="34" charset="-122"/>
                <a:cs typeface="DM Sans" pitchFamily="34" charset="-120"/>
              </a:rPr>
              <a:t>.</a:t>
            </a:r>
            <a:endParaRPr lang="en-US" sz="1300" dirty="0"/>
          </a:p>
        </p:txBody>
      </p:sp>
      <p:sp>
        <p:nvSpPr>
          <p:cNvPr id="14" name="Text 10"/>
          <p:cNvSpPr/>
          <p:nvPr/>
        </p:nvSpPr>
        <p:spPr>
          <a:xfrm>
            <a:off x="1412081" y="4512469"/>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Implement </a:t>
            </a:r>
            <a:r>
              <a:rPr lang="en-US" sz="1300" b="1" dirty="0">
                <a:solidFill>
                  <a:srgbClr val="454240"/>
                </a:solidFill>
                <a:latin typeface="DM Sans" pitchFamily="34" charset="0"/>
                <a:ea typeface="DM Sans" pitchFamily="34" charset="-122"/>
                <a:cs typeface="DM Sans" pitchFamily="34" charset="-120"/>
              </a:rPr>
              <a:t>fine-tuning strategies</a:t>
            </a:r>
            <a:r>
              <a:rPr lang="en-US" sz="1300" dirty="0">
                <a:solidFill>
                  <a:srgbClr val="454240"/>
                </a:solidFill>
                <a:latin typeface="DM Sans" pitchFamily="34" charset="0"/>
                <a:ea typeface="DM Sans" pitchFamily="34" charset="-122"/>
                <a:cs typeface="DM Sans" pitchFamily="34" charset="-120"/>
              </a:rPr>
              <a:t> for advanced speech transformers.</a:t>
            </a:r>
            <a:endParaRPr lang="en-US" sz="1300" dirty="0"/>
          </a:p>
        </p:txBody>
      </p:sp>
      <p:sp>
        <p:nvSpPr>
          <p:cNvPr id="15" name="Text 11"/>
          <p:cNvSpPr/>
          <p:nvPr/>
        </p:nvSpPr>
        <p:spPr>
          <a:xfrm>
            <a:off x="1412081" y="4836319"/>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Conduct rigorous </a:t>
            </a:r>
            <a:r>
              <a:rPr lang="en-US" sz="1300" b="1" dirty="0">
                <a:solidFill>
                  <a:srgbClr val="454240"/>
                </a:solidFill>
                <a:latin typeface="DM Sans" pitchFamily="34" charset="0"/>
                <a:ea typeface="DM Sans" pitchFamily="34" charset="-122"/>
                <a:cs typeface="DM Sans" pitchFamily="34" charset="-120"/>
              </a:rPr>
              <a:t>clinical trials</a:t>
            </a:r>
            <a:r>
              <a:rPr lang="en-US" sz="1300" dirty="0">
                <a:solidFill>
                  <a:srgbClr val="454240"/>
                </a:solidFill>
                <a:latin typeface="DM Sans" pitchFamily="34" charset="0"/>
                <a:ea typeface="DM Sans" pitchFamily="34" charset="-122"/>
                <a:cs typeface="DM Sans" pitchFamily="34" charset="-120"/>
              </a:rPr>
              <a:t> to validate the system's efficacy in real-world settings.</a:t>
            </a:r>
            <a:endParaRPr lang="en-US" sz="1300" dirty="0"/>
          </a:p>
        </p:txBody>
      </p:sp>
      <p:sp>
        <p:nvSpPr>
          <p:cNvPr id="16" name="Text 12"/>
          <p:cNvSpPr/>
          <p:nvPr/>
        </p:nvSpPr>
        <p:spPr>
          <a:xfrm>
            <a:off x="1412081" y="5160169"/>
            <a:ext cx="12636818" cy="265747"/>
          </a:xfrm>
          <a:prstGeom prst="rect">
            <a:avLst/>
          </a:prstGeom>
          <a:noFill/>
          <a:ln/>
        </p:spPr>
        <p:txBody>
          <a:bodyPr wrap="none" lIns="0" tIns="0" rIns="0" bIns="0" rtlCol="0" anchor="t"/>
          <a:lstStyle/>
          <a:p>
            <a:pPr marL="342900" indent="-342900" algn="l">
              <a:lnSpc>
                <a:spcPts val="2050"/>
              </a:lnSpc>
              <a:buSzPct val="100000"/>
              <a:buChar char="•"/>
            </a:pPr>
            <a:r>
              <a:rPr lang="en-US" sz="1300" dirty="0">
                <a:solidFill>
                  <a:srgbClr val="454240"/>
                </a:solidFill>
                <a:latin typeface="DM Sans" pitchFamily="34" charset="0"/>
                <a:ea typeface="DM Sans" pitchFamily="34" charset="-122"/>
                <a:cs typeface="DM Sans" pitchFamily="34" charset="-120"/>
              </a:rPr>
              <a:t>Explore integration with </a:t>
            </a:r>
            <a:r>
              <a:rPr lang="en-US" sz="1300" b="1" dirty="0">
                <a:solidFill>
                  <a:srgbClr val="454240"/>
                </a:solidFill>
                <a:latin typeface="DM Sans" pitchFamily="34" charset="0"/>
                <a:ea typeface="DM Sans" pitchFamily="34" charset="-122"/>
                <a:cs typeface="DM Sans" pitchFamily="34" charset="-120"/>
              </a:rPr>
              <a:t>mobile and wearable devices</a:t>
            </a:r>
            <a:r>
              <a:rPr lang="en-US" sz="1300" dirty="0">
                <a:solidFill>
                  <a:srgbClr val="454240"/>
                </a:solidFill>
                <a:latin typeface="DM Sans" pitchFamily="34" charset="0"/>
                <a:ea typeface="DM Sans" pitchFamily="34" charset="-122"/>
                <a:cs typeface="DM Sans" pitchFamily="34" charset="-120"/>
              </a:rPr>
              <a:t> for continuous monitoring.</a:t>
            </a:r>
            <a:endParaRPr lang="en-US" sz="1300" dirty="0"/>
          </a:p>
        </p:txBody>
      </p:sp>
      <p:sp>
        <p:nvSpPr>
          <p:cNvPr id="17" name="Shape 13"/>
          <p:cNvSpPr/>
          <p:nvPr/>
        </p:nvSpPr>
        <p:spPr>
          <a:xfrm>
            <a:off x="581501" y="5758101"/>
            <a:ext cx="664488" cy="1754386"/>
          </a:xfrm>
          <a:prstGeom prst="roundRect">
            <a:avLst>
              <a:gd name="adj" fmla="val 360049"/>
            </a:avLst>
          </a:prstGeom>
          <a:solidFill>
            <a:srgbClr val="F7EDD4"/>
          </a:solidFill>
          <a:ln w="7620">
            <a:solidFill>
              <a:srgbClr val="DDD3BA"/>
            </a:solidFill>
            <a:prstDash val="solid"/>
          </a:ln>
        </p:spPr>
        <p:txBody>
          <a:bodyPr/>
          <a:lstStyle/>
          <a:p>
            <a:endParaRPr lang="en-IN"/>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9146" y="6510576"/>
            <a:ext cx="249198" cy="249198"/>
          </a:xfrm>
          <a:prstGeom prst="rect">
            <a:avLst/>
          </a:prstGeom>
        </p:spPr>
      </p:pic>
      <p:sp>
        <p:nvSpPr>
          <p:cNvPr id="19" name="Text 14"/>
          <p:cNvSpPr/>
          <p:nvPr/>
        </p:nvSpPr>
        <p:spPr>
          <a:xfrm>
            <a:off x="1412081" y="5924193"/>
            <a:ext cx="2317194" cy="259556"/>
          </a:xfrm>
          <a:prstGeom prst="rect">
            <a:avLst/>
          </a:prstGeom>
          <a:noFill/>
          <a:ln/>
        </p:spPr>
        <p:txBody>
          <a:bodyPr wrap="none" lIns="0" tIns="0" rIns="0" bIns="0" rtlCol="0" anchor="t"/>
          <a:lstStyle/>
          <a:p>
            <a:pPr marL="0" indent="0" algn="l">
              <a:lnSpc>
                <a:spcPts val="2000"/>
              </a:lnSpc>
              <a:buNone/>
            </a:pPr>
            <a:r>
              <a:rPr lang="en-US" sz="1600" dirty="0">
                <a:solidFill>
                  <a:srgbClr val="454240"/>
                </a:solidFill>
                <a:latin typeface="Libre Baskerville" pitchFamily="34" charset="0"/>
                <a:ea typeface="Libre Baskerville" pitchFamily="34" charset="-122"/>
                <a:cs typeface="Libre Baskerville" pitchFamily="34" charset="-120"/>
              </a:rPr>
              <a:t>Concluding Thoughts</a:t>
            </a:r>
            <a:endParaRPr lang="en-US" sz="1600" dirty="0"/>
          </a:p>
        </p:txBody>
      </p:sp>
      <p:sp>
        <p:nvSpPr>
          <p:cNvPr id="20" name="Text 15"/>
          <p:cNvSpPr/>
          <p:nvPr/>
        </p:nvSpPr>
        <p:spPr>
          <a:xfrm>
            <a:off x="1412081" y="6283404"/>
            <a:ext cx="12636818" cy="1062990"/>
          </a:xfrm>
          <a:prstGeom prst="rect">
            <a:avLst/>
          </a:prstGeom>
          <a:noFill/>
          <a:ln/>
        </p:spPr>
        <p:txBody>
          <a:bodyPr wrap="square" lIns="0" tIns="0" rIns="0" bIns="0" rtlCol="0" anchor="t"/>
          <a:lstStyle/>
          <a:p>
            <a:pPr marL="0" indent="0" algn="l">
              <a:lnSpc>
                <a:spcPts val="2050"/>
              </a:lnSpc>
              <a:buNone/>
            </a:pPr>
            <a:r>
              <a:rPr lang="en-US" sz="1300" dirty="0">
                <a:solidFill>
                  <a:srgbClr val="454240"/>
                </a:solidFill>
                <a:latin typeface="DM Sans" pitchFamily="34" charset="0"/>
                <a:ea typeface="DM Sans" pitchFamily="34" charset="-122"/>
                <a:cs typeface="DM Sans" pitchFamily="34" charset="-120"/>
              </a:rPr>
              <a:t>Speech analysis represents a </a:t>
            </a:r>
            <a:r>
              <a:rPr lang="en-US" sz="1300" b="1" dirty="0">
                <a:solidFill>
                  <a:srgbClr val="454240"/>
                </a:solidFill>
                <a:latin typeface="DM Sans" pitchFamily="34" charset="0"/>
                <a:ea typeface="DM Sans" pitchFamily="34" charset="-122"/>
                <a:cs typeface="DM Sans" pitchFamily="34" charset="-120"/>
              </a:rPr>
              <a:t>strong and promising indicator</a:t>
            </a:r>
            <a:r>
              <a:rPr lang="en-US" sz="1300" dirty="0">
                <a:solidFill>
                  <a:srgbClr val="454240"/>
                </a:solidFill>
                <a:latin typeface="DM Sans" pitchFamily="34" charset="0"/>
                <a:ea typeface="DM Sans" pitchFamily="34" charset="-122"/>
                <a:cs typeface="DM Sans" pitchFamily="34" charset="-120"/>
              </a:rPr>
              <a:t> for the early detection of Parkinson's Disease. Our hybrid machine learning approach significantly improves the reliability and robustness of this detection. It is crucial to emphasize that while this framework is highly suitable for </a:t>
            </a:r>
            <a:r>
              <a:rPr lang="en-US" sz="1300" b="1" dirty="0">
                <a:solidFill>
                  <a:srgbClr val="454240"/>
                </a:solidFill>
                <a:latin typeface="DM Sans" pitchFamily="34" charset="0"/>
                <a:ea typeface="DM Sans" pitchFamily="34" charset="-122"/>
                <a:cs typeface="DM Sans" pitchFamily="34" charset="-120"/>
              </a:rPr>
              <a:t>early screening</a:t>
            </a:r>
            <a:r>
              <a:rPr lang="en-US" sz="1300" dirty="0">
                <a:solidFill>
                  <a:srgbClr val="454240"/>
                </a:solidFill>
                <a:latin typeface="DM Sans" pitchFamily="34" charset="0"/>
                <a:ea typeface="DM Sans" pitchFamily="34" charset="-122"/>
                <a:cs typeface="DM Sans" pitchFamily="34" charset="-120"/>
              </a:rPr>
              <a:t> to identify at-risk individuals, it is </a:t>
            </a:r>
            <a:r>
              <a:rPr lang="en-US" sz="1300" b="1" dirty="0">
                <a:solidFill>
                  <a:srgbClr val="454240"/>
                </a:solidFill>
                <a:latin typeface="DM Sans" pitchFamily="34" charset="0"/>
                <a:ea typeface="DM Sans" pitchFamily="34" charset="-122"/>
                <a:cs typeface="DM Sans" pitchFamily="34" charset="-120"/>
              </a:rPr>
              <a:t>not intended for definitive clinical diagnosis</a:t>
            </a:r>
            <a:r>
              <a:rPr lang="en-US" sz="1300" dirty="0">
                <a:solidFill>
                  <a:srgbClr val="454240"/>
                </a:solidFill>
                <a:latin typeface="DM Sans" pitchFamily="34" charset="0"/>
                <a:ea typeface="DM Sans" pitchFamily="34" charset="-122"/>
                <a:cs typeface="DM Sans" pitchFamily="34" charset="-120"/>
              </a:rPr>
              <a:t>, which requires comprehensive medical evaluation. This work paves the way for accessible and timely intervention strategies.</a:t>
            </a:r>
            <a:endParaRPr lang="en-US" sz="1300" dirty="0"/>
          </a:p>
        </p:txBody>
      </p:sp>
      <p:sp>
        <p:nvSpPr>
          <p:cNvPr id="21" name="Rectangle 20">
            <a:extLst>
              <a:ext uri="{FF2B5EF4-FFF2-40B4-BE49-F238E27FC236}">
                <a16:creationId xmlns:a16="http://schemas.microsoft.com/office/drawing/2014/main" id="{BB50E04C-D7A4-0E8D-65F4-3F411E3FE5EF}"/>
              </a:ext>
            </a:extLst>
          </p:cNvPr>
          <p:cNvSpPr/>
          <p:nvPr/>
        </p:nvSpPr>
        <p:spPr>
          <a:xfrm>
            <a:off x="12904342" y="7705618"/>
            <a:ext cx="1602768" cy="52398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1489</Words>
  <Application>Microsoft Office PowerPoint</Application>
  <PresentationFormat>Custom</PresentationFormat>
  <Paragraphs>113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Libre Baskerville</vt:lpstr>
      <vt:lpstr>DM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guneet kaur</cp:lastModifiedBy>
  <cp:revision>2</cp:revision>
  <dcterms:created xsi:type="dcterms:W3CDTF">2025-12-15T19:45:50Z</dcterms:created>
  <dcterms:modified xsi:type="dcterms:W3CDTF">2025-12-15T19:54:47Z</dcterms:modified>
</cp:coreProperties>
</file>